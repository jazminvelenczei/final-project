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66" r:id="rId3"/>
    <p:sldId id="262" r:id="rId4"/>
    <p:sldId id="259" r:id="rId5"/>
    <p:sldId id="260" r:id="rId6"/>
    <p:sldId id="264" r:id="rId7"/>
    <p:sldId id="265" r:id="rId8"/>
    <p:sldId id="268" r:id="rId9"/>
    <p:sldId id="269" r:id="rId10"/>
    <p:sldId id="27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498"/>
    <p:restoredTop sz="94669"/>
  </p:normalViewPr>
  <p:slideViewPr>
    <p:cSldViewPr snapToGrid="0">
      <p:cViewPr>
        <p:scale>
          <a:sx n="82" d="100"/>
          <a:sy n="82" d="100"/>
        </p:scale>
        <p:origin x="472" y="3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DDC5155-A633-417D-B083-672822CFADB6}"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5974FBFE-5FD8-4D91-8A2A-8C00774B67A4}">
      <dgm:prSet/>
      <dgm:spPr/>
      <dgm:t>
        <a:bodyPr/>
        <a:lstStyle/>
        <a:p>
          <a:r>
            <a:rPr lang="en-US" b="1"/>
            <a:t>Why is this important?</a:t>
          </a:r>
          <a:endParaRPr lang="en-US"/>
        </a:p>
      </dgm:t>
    </dgm:pt>
    <dgm:pt modelId="{DFB4D977-DEAE-4931-A34B-E5908880EA7B}" type="parTrans" cxnId="{E9B9E651-AB5E-4BFE-8B61-6EB98EB2BBA6}">
      <dgm:prSet/>
      <dgm:spPr/>
      <dgm:t>
        <a:bodyPr/>
        <a:lstStyle/>
        <a:p>
          <a:endParaRPr lang="en-US"/>
        </a:p>
      </dgm:t>
    </dgm:pt>
    <dgm:pt modelId="{ED1F814F-CA92-494C-87A9-BDD33404CFC0}" type="sibTrans" cxnId="{E9B9E651-AB5E-4BFE-8B61-6EB98EB2BBA6}">
      <dgm:prSet/>
      <dgm:spPr/>
      <dgm:t>
        <a:bodyPr/>
        <a:lstStyle/>
        <a:p>
          <a:endParaRPr lang="en-US"/>
        </a:p>
      </dgm:t>
    </dgm:pt>
    <dgm:pt modelId="{8AD83DE6-3A6E-48D1-ADA1-D333FB31F1DC}">
      <dgm:prSet/>
      <dgm:spPr/>
      <dgm:t>
        <a:bodyPr/>
        <a:lstStyle/>
        <a:p>
          <a:r>
            <a:rPr lang="en-US"/>
            <a:t>Understanding the relationship between </a:t>
          </a:r>
          <a:r>
            <a:rPr lang="en-US" b="1"/>
            <a:t>market signals and central bank priorities</a:t>
          </a:r>
          <a:r>
            <a:rPr lang="en-US"/>
            <a:t> </a:t>
          </a:r>
        </a:p>
      </dgm:t>
    </dgm:pt>
    <dgm:pt modelId="{6426BC6B-1B66-4078-9211-27CDBA7D1AA5}" type="parTrans" cxnId="{F6181AB2-839B-466B-A336-3364E8DB16E4}">
      <dgm:prSet/>
      <dgm:spPr/>
      <dgm:t>
        <a:bodyPr/>
        <a:lstStyle/>
        <a:p>
          <a:endParaRPr lang="en-US"/>
        </a:p>
      </dgm:t>
    </dgm:pt>
    <dgm:pt modelId="{B39A908C-8574-48BC-999D-EC744F89A2F5}" type="sibTrans" cxnId="{F6181AB2-839B-466B-A336-3364E8DB16E4}">
      <dgm:prSet/>
      <dgm:spPr/>
      <dgm:t>
        <a:bodyPr/>
        <a:lstStyle/>
        <a:p>
          <a:endParaRPr lang="en-US"/>
        </a:p>
      </dgm:t>
    </dgm:pt>
    <dgm:pt modelId="{C3B24DD3-1D38-4564-BBC7-14A8565CDFDD}">
      <dgm:prSet/>
      <dgm:spPr/>
      <dgm:t>
        <a:bodyPr/>
        <a:lstStyle/>
        <a:p>
          <a:r>
            <a:rPr lang="en-US"/>
            <a:t>helps explain how policy and market perceptions interact.</a:t>
          </a:r>
        </a:p>
      </dgm:t>
    </dgm:pt>
    <dgm:pt modelId="{A73712AD-945D-4715-A69A-DC6C1511830E}" type="parTrans" cxnId="{A0FB63BF-9A63-4EF9-A322-57EDCE38B79C}">
      <dgm:prSet/>
      <dgm:spPr/>
      <dgm:t>
        <a:bodyPr/>
        <a:lstStyle/>
        <a:p>
          <a:endParaRPr lang="en-US"/>
        </a:p>
      </dgm:t>
    </dgm:pt>
    <dgm:pt modelId="{FCBAA796-16B3-42EC-A6C7-7511BAF66103}" type="sibTrans" cxnId="{A0FB63BF-9A63-4EF9-A322-57EDCE38B79C}">
      <dgm:prSet/>
      <dgm:spPr/>
      <dgm:t>
        <a:bodyPr/>
        <a:lstStyle/>
        <a:p>
          <a:endParaRPr lang="en-US"/>
        </a:p>
      </dgm:t>
    </dgm:pt>
    <dgm:pt modelId="{FC61AC09-BA4A-4B4E-8ED8-3EF4200C1DF3}">
      <dgm:prSet/>
      <dgm:spPr/>
      <dgm:t>
        <a:bodyPr/>
        <a:lstStyle/>
        <a:p>
          <a:r>
            <a:rPr lang="en-US"/>
            <a:t>If financial markets and policymakers focus on </a:t>
          </a:r>
          <a:r>
            <a:rPr lang="en-US" b="1"/>
            <a:t>different risks</a:t>
          </a:r>
          <a:r>
            <a:rPr lang="en-US"/>
            <a:t>, </a:t>
          </a:r>
        </a:p>
      </dgm:t>
    </dgm:pt>
    <dgm:pt modelId="{C3E7CFF0-A013-4F62-B601-06DD873C3A0B}" type="parTrans" cxnId="{562D0403-1C34-4047-9239-E28155DD0C33}">
      <dgm:prSet/>
      <dgm:spPr/>
      <dgm:t>
        <a:bodyPr/>
        <a:lstStyle/>
        <a:p>
          <a:endParaRPr lang="en-US"/>
        </a:p>
      </dgm:t>
    </dgm:pt>
    <dgm:pt modelId="{B3372BC1-E7AF-46F0-A70F-DD1D3ED262BB}" type="sibTrans" cxnId="{562D0403-1C34-4047-9239-E28155DD0C33}">
      <dgm:prSet/>
      <dgm:spPr/>
      <dgm:t>
        <a:bodyPr/>
        <a:lstStyle/>
        <a:p>
          <a:endParaRPr lang="en-US"/>
        </a:p>
      </dgm:t>
    </dgm:pt>
    <dgm:pt modelId="{8331EA53-F917-4829-9E9D-7469BE70BD5F}">
      <dgm:prSet/>
      <dgm:spPr/>
      <dgm:t>
        <a:bodyPr/>
        <a:lstStyle/>
        <a:p>
          <a:r>
            <a:rPr lang="en-US"/>
            <a:t>this may lead to </a:t>
          </a:r>
          <a:r>
            <a:rPr lang="en-US" b="1"/>
            <a:t>mispricing, policy uncertainty, or weaker policy transmission</a:t>
          </a:r>
          <a:r>
            <a:rPr lang="en-US"/>
            <a:t>.</a:t>
          </a:r>
        </a:p>
      </dgm:t>
    </dgm:pt>
    <dgm:pt modelId="{A556A8F2-5270-460D-B21D-45AEBD44C3AE}" type="parTrans" cxnId="{C21419AD-C6A1-44B3-AD2F-766BE478ADC2}">
      <dgm:prSet/>
      <dgm:spPr/>
      <dgm:t>
        <a:bodyPr/>
        <a:lstStyle/>
        <a:p>
          <a:endParaRPr lang="en-US"/>
        </a:p>
      </dgm:t>
    </dgm:pt>
    <dgm:pt modelId="{E9802D52-5A5A-4119-BDD9-F98123EF4BF6}" type="sibTrans" cxnId="{C21419AD-C6A1-44B3-AD2F-766BE478ADC2}">
      <dgm:prSet/>
      <dgm:spPr/>
      <dgm:t>
        <a:bodyPr/>
        <a:lstStyle/>
        <a:p>
          <a:endParaRPr lang="en-US"/>
        </a:p>
      </dgm:t>
    </dgm:pt>
    <dgm:pt modelId="{9F279B7A-3C32-4559-A678-963AB15E8098}">
      <dgm:prSet/>
      <dgm:spPr/>
      <dgm:t>
        <a:bodyPr/>
        <a:lstStyle/>
        <a:p>
          <a:r>
            <a:rPr lang="en-US"/>
            <a:t>Identifying these </a:t>
          </a:r>
          <a:r>
            <a:rPr lang="en-US" b="1"/>
            <a:t>differences improves our understanding of </a:t>
          </a:r>
          <a:endParaRPr lang="en-US"/>
        </a:p>
      </dgm:t>
    </dgm:pt>
    <dgm:pt modelId="{06C7357F-03DC-4312-B8CB-234B90425DD7}" type="parTrans" cxnId="{13857C59-3610-47B9-BFB6-7635A6151790}">
      <dgm:prSet/>
      <dgm:spPr/>
      <dgm:t>
        <a:bodyPr/>
        <a:lstStyle/>
        <a:p>
          <a:endParaRPr lang="en-US"/>
        </a:p>
      </dgm:t>
    </dgm:pt>
    <dgm:pt modelId="{9C46C36D-4DAA-4F17-990D-8894BD8B52FB}" type="sibTrans" cxnId="{13857C59-3610-47B9-BFB6-7635A6151790}">
      <dgm:prSet/>
      <dgm:spPr/>
      <dgm:t>
        <a:bodyPr/>
        <a:lstStyle/>
        <a:p>
          <a:endParaRPr lang="en-US"/>
        </a:p>
      </dgm:t>
    </dgm:pt>
    <dgm:pt modelId="{0FF6440C-9A68-4129-B0E7-D8672E498F83}">
      <dgm:prSet/>
      <dgm:spPr/>
      <dgm:t>
        <a:bodyPr/>
        <a:lstStyle/>
        <a:p>
          <a:r>
            <a:rPr lang="en-US" b="1"/>
            <a:t>monetary policy credibility and financial market reactions.</a:t>
          </a:r>
          <a:endParaRPr lang="en-US"/>
        </a:p>
      </dgm:t>
    </dgm:pt>
    <dgm:pt modelId="{1750B64E-2E9F-4CB1-9B06-6544B404E150}" type="parTrans" cxnId="{B5ABA3F0-EB3D-4627-AB8E-EF30FF95273B}">
      <dgm:prSet/>
      <dgm:spPr/>
      <dgm:t>
        <a:bodyPr/>
        <a:lstStyle/>
        <a:p>
          <a:endParaRPr lang="en-US"/>
        </a:p>
      </dgm:t>
    </dgm:pt>
    <dgm:pt modelId="{FE9F124F-1013-4914-A94B-AFD66D43EA12}" type="sibTrans" cxnId="{B5ABA3F0-EB3D-4627-AB8E-EF30FF95273B}">
      <dgm:prSet/>
      <dgm:spPr/>
      <dgm:t>
        <a:bodyPr/>
        <a:lstStyle/>
        <a:p>
          <a:endParaRPr lang="en-US"/>
        </a:p>
      </dgm:t>
    </dgm:pt>
    <dgm:pt modelId="{F080A473-B3DF-48F8-87B5-8AAE5F1D6859}">
      <dgm:prSet/>
      <dgm:spPr/>
      <dgm:t>
        <a:bodyPr/>
        <a:lstStyle/>
        <a:p>
          <a:r>
            <a:rPr lang="en-US" b="1"/>
            <a:t>Strategy </a:t>
          </a:r>
          <a:endParaRPr lang="en-US"/>
        </a:p>
      </dgm:t>
    </dgm:pt>
    <dgm:pt modelId="{ED1CB674-2D04-4B87-8EB9-702B552B47A7}" type="parTrans" cxnId="{1E925569-BE83-440F-8610-47F3FF78BA51}">
      <dgm:prSet/>
      <dgm:spPr/>
      <dgm:t>
        <a:bodyPr/>
        <a:lstStyle/>
        <a:p>
          <a:endParaRPr lang="en-US"/>
        </a:p>
      </dgm:t>
    </dgm:pt>
    <dgm:pt modelId="{C340505B-C20B-4430-B47A-A6E9F26A1671}" type="sibTrans" cxnId="{1E925569-BE83-440F-8610-47F3FF78BA51}">
      <dgm:prSet/>
      <dgm:spPr/>
      <dgm:t>
        <a:bodyPr/>
        <a:lstStyle/>
        <a:p>
          <a:endParaRPr lang="en-US"/>
        </a:p>
      </dgm:t>
    </dgm:pt>
    <dgm:pt modelId="{D9CC77E0-BD28-4783-930F-25E98772EC6E}">
      <dgm:prSet/>
      <dgm:spPr/>
      <dgm:t>
        <a:bodyPr/>
        <a:lstStyle/>
        <a:p>
          <a:r>
            <a:rPr lang="de-DE" b="1"/>
            <a:t>Financial market</a:t>
          </a:r>
          <a:endParaRPr lang="en-US"/>
        </a:p>
      </dgm:t>
    </dgm:pt>
    <dgm:pt modelId="{3032789F-6F7B-4148-ABE2-426139288355}" type="parTrans" cxnId="{11320EB7-F333-4689-8F4D-53161162F057}">
      <dgm:prSet/>
      <dgm:spPr/>
      <dgm:t>
        <a:bodyPr/>
        <a:lstStyle/>
        <a:p>
          <a:endParaRPr lang="en-US"/>
        </a:p>
      </dgm:t>
    </dgm:pt>
    <dgm:pt modelId="{9A2125F4-A5B7-4858-9BFC-081C4780DE99}" type="sibTrans" cxnId="{11320EB7-F333-4689-8F4D-53161162F057}">
      <dgm:prSet/>
      <dgm:spPr/>
      <dgm:t>
        <a:bodyPr/>
        <a:lstStyle/>
        <a:p>
          <a:endParaRPr lang="en-US"/>
        </a:p>
      </dgm:t>
    </dgm:pt>
    <dgm:pt modelId="{1D446454-F76F-41D1-9EEC-ABAF395C8F4B}">
      <dgm:prSet/>
      <dgm:spPr/>
      <dgm:t>
        <a:bodyPr/>
        <a:lstStyle/>
        <a:p>
          <a:r>
            <a:rPr lang="de-DE" b="1"/>
            <a:t>Sovereign spreads</a:t>
          </a:r>
          <a:r>
            <a:rPr lang="de-DE"/>
            <a:t> signal how markets evaluate macroeconomic fundamentals such as </a:t>
          </a:r>
          <a:endParaRPr lang="en-US"/>
        </a:p>
      </dgm:t>
    </dgm:pt>
    <dgm:pt modelId="{8187B990-3B2F-431C-8509-F433D6EFE479}" type="parTrans" cxnId="{5D9FEF79-E9FD-4E10-802D-03C7CFB19DB6}">
      <dgm:prSet/>
      <dgm:spPr/>
      <dgm:t>
        <a:bodyPr/>
        <a:lstStyle/>
        <a:p>
          <a:endParaRPr lang="en-US"/>
        </a:p>
      </dgm:t>
    </dgm:pt>
    <dgm:pt modelId="{E2BCD88D-3B7C-42AF-BF83-51E4A7B77638}" type="sibTrans" cxnId="{5D9FEF79-E9FD-4E10-802D-03C7CFB19DB6}">
      <dgm:prSet/>
      <dgm:spPr/>
      <dgm:t>
        <a:bodyPr/>
        <a:lstStyle/>
        <a:p>
          <a:endParaRPr lang="en-US"/>
        </a:p>
      </dgm:t>
    </dgm:pt>
    <dgm:pt modelId="{C343F62D-7C7F-4407-8E03-7A5348FB2BC5}">
      <dgm:prSet/>
      <dgm:spPr/>
      <dgm:t>
        <a:bodyPr/>
        <a:lstStyle/>
        <a:p>
          <a:r>
            <a:rPr lang="de-DE"/>
            <a:t>GDP growth, competitiveness (REER), fiscal sustainability (Debt/GDP) , and international vouneralability (Currrent account) </a:t>
          </a:r>
          <a:endParaRPr lang="en-US"/>
        </a:p>
      </dgm:t>
    </dgm:pt>
    <dgm:pt modelId="{D836EC61-3ECF-4887-A7AD-CF91A3BDDA47}" type="parTrans" cxnId="{D54FCF01-0FC6-42D0-8A0B-1CB67E90A21E}">
      <dgm:prSet/>
      <dgm:spPr/>
      <dgm:t>
        <a:bodyPr/>
        <a:lstStyle/>
        <a:p>
          <a:endParaRPr lang="en-US"/>
        </a:p>
      </dgm:t>
    </dgm:pt>
    <dgm:pt modelId="{A682378B-85AE-424B-B729-AB86F83967AB}" type="sibTrans" cxnId="{D54FCF01-0FC6-42D0-8A0B-1CB67E90A21E}">
      <dgm:prSet/>
      <dgm:spPr/>
      <dgm:t>
        <a:bodyPr/>
        <a:lstStyle/>
        <a:p>
          <a:endParaRPr lang="en-US"/>
        </a:p>
      </dgm:t>
    </dgm:pt>
    <dgm:pt modelId="{DD25BCC7-5A99-47ED-806A-A11B45D36643}">
      <dgm:prSet/>
      <dgm:spPr/>
      <dgm:t>
        <a:bodyPr/>
        <a:lstStyle/>
        <a:p>
          <a:r>
            <a:rPr lang="de-DE" b="1"/>
            <a:t>Central bankers</a:t>
          </a:r>
          <a:endParaRPr lang="en-US"/>
        </a:p>
      </dgm:t>
    </dgm:pt>
    <dgm:pt modelId="{8C235E7B-2A62-47D2-88C3-D70B032C080C}" type="parTrans" cxnId="{269F66AB-3E8F-4630-98B4-54EAB64882C3}">
      <dgm:prSet/>
      <dgm:spPr/>
      <dgm:t>
        <a:bodyPr/>
        <a:lstStyle/>
        <a:p>
          <a:endParaRPr lang="en-US"/>
        </a:p>
      </dgm:t>
    </dgm:pt>
    <dgm:pt modelId="{1937BE34-CDBF-44FB-A9A3-C869C3326F03}" type="sibTrans" cxnId="{269F66AB-3E8F-4630-98B4-54EAB64882C3}">
      <dgm:prSet/>
      <dgm:spPr/>
      <dgm:t>
        <a:bodyPr/>
        <a:lstStyle/>
        <a:p>
          <a:endParaRPr lang="en-US"/>
        </a:p>
      </dgm:t>
    </dgm:pt>
    <dgm:pt modelId="{BA933E21-34FA-4694-B797-F33E028885D0}">
      <dgm:prSet/>
      <dgm:spPr/>
      <dgm:t>
        <a:bodyPr/>
        <a:lstStyle/>
        <a:p>
          <a:r>
            <a:rPr lang="de-DE" b="1" i="0" baseline="0"/>
            <a:t>Speeches</a:t>
          </a:r>
          <a:r>
            <a:rPr lang="de-DE" i="0" baseline="0"/>
            <a:t> serve as a proxy for the issues policymakers consider most relevant.</a:t>
          </a:r>
          <a:endParaRPr lang="en-US"/>
        </a:p>
      </dgm:t>
    </dgm:pt>
    <dgm:pt modelId="{117D46C4-DE30-42C2-9E3B-1E67BDD7EE17}" type="parTrans" cxnId="{79294A5D-5155-4760-802D-6F923756A2A5}">
      <dgm:prSet/>
      <dgm:spPr/>
      <dgm:t>
        <a:bodyPr/>
        <a:lstStyle/>
        <a:p>
          <a:endParaRPr lang="en-US"/>
        </a:p>
      </dgm:t>
    </dgm:pt>
    <dgm:pt modelId="{4D1D4D6A-7888-43B0-8CBB-15CA6571F7E1}" type="sibTrans" cxnId="{79294A5D-5155-4760-802D-6F923756A2A5}">
      <dgm:prSet/>
      <dgm:spPr/>
      <dgm:t>
        <a:bodyPr/>
        <a:lstStyle/>
        <a:p>
          <a:endParaRPr lang="en-US"/>
        </a:p>
      </dgm:t>
    </dgm:pt>
    <dgm:pt modelId="{68AA8981-BD04-43A9-827C-8DCD68B4CB8D}" type="pres">
      <dgm:prSet presAssocID="{2DDC5155-A633-417D-B083-672822CFADB6}" presName="linear" presStyleCnt="0">
        <dgm:presLayoutVars>
          <dgm:animLvl val="lvl"/>
          <dgm:resizeHandles val="exact"/>
        </dgm:presLayoutVars>
      </dgm:prSet>
      <dgm:spPr/>
    </dgm:pt>
    <dgm:pt modelId="{B78956FE-F7CD-48B3-9F22-F1476A359927}" type="pres">
      <dgm:prSet presAssocID="{5974FBFE-5FD8-4D91-8A2A-8C00774B67A4}" presName="parentText" presStyleLbl="node1" presStyleIdx="0" presStyleCnt="2">
        <dgm:presLayoutVars>
          <dgm:chMax val="0"/>
          <dgm:bulletEnabled val="1"/>
        </dgm:presLayoutVars>
      </dgm:prSet>
      <dgm:spPr/>
    </dgm:pt>
    <dgm:pt modelId="{067C49C6-4A19-4C3A-AD43-597A77B6AC56}" type="pres">
      <dgm:prSet presAssocID="{5974FBFE-5FD8-4D91-8A2A-8C00774B67A4}" presName="childText" presStyleLbl="revTx" presStyleIdx="0" presStyleCnt="2">
        <dgm:presLayoutVars>
          <dgm:bulletEnabled val="1"/>
        </dgm:presLayoutVars>
      </dgm:prSet>
      <dgm:spPr/>
    </dgm:pt>
    <dgm:pt modelId="{FCC582C8-FD1B-4C9D-82C8-25F17589E761}" type="pres">
      <dgm:prSet presAssocID="{F080A473-B3DF-48F8-87B5-8AAE5F1D6859}" presName="parentText" presStyleLbl="node1" presStyleIdx="1" presStyleCnt="2">
        <dgm:presLayoutVars>
          <dgm:chMax val="0"/>
          <dgm:bulletEnabled val="1"/>
        </dgm:presLayoutVars>
      </dgm:prSet>
      <dgm:spPr/>
    </dgm:pt>
    <dgm:pt modelId="{5A9CCB8A-5346-4DB8-827B-C42249D92FE8}" type="pres">
      <dgm:prSet presAssocID="{F080A473-B3DF-48F8-87B5-8AAE5F1D6859}" presName="childText" presStyleLbl="revTx" presStyleIdx="1" presStyleCnt="2">
        <dgm:presLayoutVars>
          <dgm:bulletEnabled val="1"/>
        </dgm:presLayoutVars>
      </dgm:prSet>
      <dgm:spPr/>
    </dgm:pt>
  </dgm:ptLst>
  <dgm:cxnLst>
    <dgm:cxn modelId="{D54FCF01-0FC6-42D0-8A0B-1CB67E90A21E}" srcId="{F080A473-B3DF-48F8-87B5-8AAE5F1D6859}" destId="{C343F62D-7C7F-4407-8E03-7A5348FB2BC5}" srcOrd="2" destOrd="0" parTransId="{D836EC61-3ECF-4887-A7AD-CF91A3BDDA47}" sibTransId="{A682378B-85AE-424B-B729-AB86F83967AB}"/>
    <dgm:cxn modelId="{562D0403-1C34-4047-9239-E28155DD0C33}" srcId="{5974FBFE-5FD8-4D91-8A2A-8C00774B67A4}" destId="{FC61AC09-BA4A-4B4E-8ED8-3EF4200C1DF3}" srcOrd="2" destOrd="0" parTransId="{C3E7CFF0-A013-4F62-B601-06DD873C3A0B}" sibTransId="{B3372BC1-E7AF-46F0-A70F-DD1D3ED262BB}"/>
    <dgm:cxn modelId="{31D31B0B-FCA6-4757-A563-C0A9D3220503}" type="presOf" srcId="{C3B24DD3-1D38-4564-BBC7-14A8565CDFDD}" destId="{067C49C6-4A19-4C3A-AD43-597A77B6AC56}" srcOrd="0" destOrd="1" presId="urn:microsoft.com/office/officeart/2005/8/layout/vList2"/>
    <dgm:cxn modelId="{1708E62B-BCA9-4381-8BCE-6072938A1718}" type="presOf" srcId="{FC61AC09-BA4A-4B4E-8ED8-3EF4200C1DF3}" destId="{067C49C6-4A19-4C3A-AD43-597A77B6AC56}" srcOrd="0" destOrd="2" presId="urn:microsoft.com/office/officeart/2005/8/layout/vList2"/>
    <dgm:cxn modelId="{03F6A22C-68C5-410E-88BE-1A1D8F715D38}" type="presOf" srcId="{8331EA53-F917-4829-9E9D-7469BE70BD5F}" destId="{067C49C6-4A19-4C3A-AD43-597A77B6AC56}" srcOrd="0" destOrd="3" presId="urn:microsoft.com/office/officeart/2005/8/layout/vList2"/>
    <dgm:cxn modelId="{950BAF38-038C-4332-9904-1239DE7265B9}" type="presOf" srcId="{5974FBFE-5FD8-4D91-8A2A-8C00774B67A4}" destId="{B78956FE-F7CD-48B3-9F22-F1476A359927}" srcOrd="0" destOrd="0" presId="urn:microsoft.com/office/officeart/2005/8/layout/vList2"/>
    <dgm:cxn modelId="{79294A5D-5155-4760-802D-6F923756A2A5}" srcId="{F080A473-B3DF-48F8-87B5-8AAE5F1D6859}" destId="{BA933E21-34FA-4694-B797-F33E028885D0}" srcOrd="4" destOrd="0" parTransId="{117D46C4-DE30-42C2-9E3B-1E67BDD7EE17}" sibTransId="{4D1D4D6A-7888-43B0-8CBB-15CA6571F7E1}"/>
    <dgm:cxn modelId="{33D44F5F-4C09-4436-BAE3-0D0EF774CF90}" type="presOf" srcId="{BA933E21-34FA-4694-B797-F33E028885D0}" destId="{5A9CCB8A-5346-4DB8-827B-C42249D92FE8}" srcOrd="0" destOrd="4" presId="urn:microsoft.com/office/officeart/2005/8/layout/vList2"/>
    <dgm:cxn modelId="{D0EDB944-254D-4E42-81C6-F82E10DB3647}" type="presOf" srcId="{DD25BCC7-5A99-47ED-806A-A11B45D36643}" destId="{5A9CCB8A-5346-4DB8-827B-C42249D92FE8}" srcOrd="0" destOrd="3" presId="urn:microsoft.com/office/officeart/2005/8/layout/vList2"/>
    <dgm:cxn modelId="{1E925569-BE83-440F-8610-47F3FF78BA51}" srcId="{2DDC5155-A633-417D-B083-672822CFADB6}" destId="{F080A473-B3DF-48F8-87B5-8AAE5F1D6859}" srcOrd="1" destOrd="0" parTransId="{ED1CB674-2D04-4B87-8EB9-702B552B47A7}" sibTransId="{C340505B-C20B-4430-B47A-A6E9F26A1671}"/>
    <dgm:cxn modelId="{54CD5F6A-261F-4C4C-A595-6BFB10D36397}" type="presOf" srcId="{D9CC77E0-BD28-4783-930F-25E98772EC6E}" destId="{5A9CCB8A-5346-4DB8-827B-C42249D92FE8}" srcOrd="0" destOrd="0" presId="urn:microsoft.com/office/officeart/2005/8/layout/vList2"/>
    <dgm:cxn modelId="{E9B9E651-AB5E-4BFE-8B61-6EB98EB2BBA6}" srcId="{2DDC5155-A633-417D-B083-672822CFADB6}" destId="{5974FBFE-5FD8-4D91-8A2A-8C00774B67A4}" srcOrd="0" destOrd="0" parTransId="{DFB4D977-DEAE-4931-A34B-E5908880EA7B}" sibTransId="{ED1F814F-CA92-494C-87A9-BDD33404CFC0}"/>
    <dgm:cxn modelId="{13857C59-3610-47B9-BFB6-7635A6151790}" srcId="{5974FBFE-5FD8-4D91-8A2A-8C00774B67A4}" destId="{9F279B7A-3C32-4559-A678-963AB15E8098}" srcOrd="4" destOrd="0" parTransId="{06C7357F-03DC-4312-B8CB-234B90425DD7}" sibTransId="{9C46C36D-4DAA-4F17-990D-8894BD8B52FB}"/>
    <dgm:cxn modelId="{5D9FEF79-E9FD-4E10-802D-03C7CFB19DB6}" srcId="{F080A473-B3DF-48F8-87B5-8AAE5F1D6859}" destId="{1D446454-F76F-41D1-9EEC-ABAF395C8F4B}" srcOrd="1" destOrd="0" parTransId="{8187B990-3B2F-431C-8509-F433D6EFE479}" sibTransId="{E2BCD88D-3B7C-42AF-BF83-51E4A7B77638}"/>
    <dgm:cxn modelId="{436C5C89-E485-4607-A311-6B15E51DC78A}" type="presOf" srcId="{9F279B7A-3C32-4559-A678-963AB15E8098}" destId="{067C49C6-4A19-4C3A-AD43-597A77B6AC56}" srcOrd="0" destOrd="4" presId="urn:microsoft.com/office/officeart/2005/8/layout/vList2"/>
    <dgm:cxn modelId="{2D416390-97FE-40D3-9693-1575E6BFD941}" type="presOf" srcId="{8AD83DE6-3A6E-48D1-ADA1-D333FB31F1DC}" destId="{067C49C6-4A19-4C3A-AD43-597A77B6AC56}" srcOrd="0" destOrd="0" presId="urn:microsoft.com/office/officeart/2005/8/layout/vList2"/>
    <dgm:cxn modelId="{269F66AB-3E8F-4630-98B4-54EAB64882C3}" srcId="{F080A473-B3DF-48F8-87B5-8AAE5F1D6859}" destId="{DD25BCC7-5A99-47ED-806A-A11B45D36643}" srcOrd="3" destOrd="0" parTransId="{8C235E7B-2A62-47D2-88C3-D70B032C080C}" sibTransId="{1937BE34-CDBF-44FB-A9A3-C869C3326F03}"/>
    <dgm:cxn modelId="{C21419AD-C6A1-44B3-AD2F-766BE478ADC2}" srcId="{5974FBFE-5FD8-4D91-8A2A-8C00774B67A4}" destId="{8331EA53-F917-4829-9E9D-7469BE70BD5F}" srcOrd="3" destOrd="0" parTransId="{A556A8F2-5270-460D-B21D-45AEBD44C3AE}" sibTransId="{E9802D52-5A5A-4119-BDD9-F98123EF4BF6}"/>
    <dgm:cxn modelId="{F6181AB2-839B-466B-A336-3364E8DB16E4}" srcId="{5974FBFE-5FD8-4D91-8A2A-8C00774B67A4}" destId="{8AD83DE6-3A6E-48D1-ADA1-D333FB31F1DC}" srcOrd="0" destOrd="0" parTransId="{6426BC6B-1B66-4078-9211-27CDBA7D1AA5}" sibTransId="{B39A908C-8574-48BC-999D-EC744F89A2F5}"/>
    <dgm:cxn modelId="{11320EB7-F333-4689-8F4D-53161162F057}" srcId="{F080A473-B3DF-48F8-87B5-8AAE5F1D6859}" destId="{D9CC77E0-BD28-4783-930F-25E98772EC6E}" srcOrd="0" destOrd="0" parTransId="{3032789F-6F7B-4148-ABE2-426139288355}" sibTransId="{9A2125F4-A5B7-4858-9BFC-081C4780DE99}"/>
    <dgm:cxn modelId="{A0FB63BF-9A63-4EF9-A322-57EDCE38B79C}" srcId="{5974FBFE-5FD8-4D91-8A2A-8C00774B67A4}" destId="{C3B24DD3-1D38-4564-BBC7-14A8565CDFDD}" srcOrd="1" destOrd="0" parTransId="{A73712AD-945D-4715-A69A-DC6C1511830E}" sibTransId="{FCBAA796-16B3-42EC-A6C7-7511BAF66103}"/>
    <dgm:cxn modelId="{3EE3D6CE-DC59-48D7-BB56-0F739078FC7C}" type="presOf" srcId="{F080A473-B3DF-48F8-87B5-8AAE5F1D6859}" destId="{FCC582C8-FD1B-4C9D-82C8-25F17589E761}" srcOrd="0" destOrd="0" presId="urn:microsoft.com/office/officeart/2005/8/layout/vList2"/>
    <dgm:cxn modelId="{72BC22DD-F0E8-4B40-85CA-5134D50A093C}" type="presOf" srcId="{1D446454-F76F-41D1-9EEC-ABAF395C8F4B}" destId="{5A9CCB8A-5346-4DB8-827B-C42249D92FE8}" srcOrd="0" destOrd="1" presId="urn:microsoft.com/office/officeart/2005/8/layout/vList2"/>
    <dgm:cxn modelId="{2C9842E9-33DB-4A1D-85BB-B4BAC59B43CA}" type="presOf" srcId="{C343F62D-7C7F-4407-8E03-7A5348FB2BC5}" destId="{5A9CCB8A-5346-4DB8-827B-C42249D92FE8}" srcOrd="0" destOrd="2" presId="urn:microsoft.com/office/officeart/2005/8/layout/vList2"/>
    <dgm:cxn modelId="{2C04DFE9-2761-411F-A65A-2EE64823A827}" type="presOf" srcId="{0FF6440C-9A68-4129-B0E7-D8672E498F83}" destId="{067C49C6-4A19-4C3A-AD43-597A77B6AC56}" srcOrd="0" destOrd="5" presId="urn:microsoft.com/office/officeart/2005/8/layout/vList2"/>
    <dgm:cxn modelId="{B5ABA3F0-EB3D-4627-AB8E-EF30FF95273B}" srcId="{5974FBFE-5FD8-4D91-8A2A-8C00774B67A4}" destId="{0FF6440C-9A68-4129-B0E7-D8672E498F83}" srcOrd="5" destOrd="0" parTransId="{1750B64E-2E9F-4CB1-9B06-6544B404E150}" sibTransId="{FE9F124F-1013-4914-A94B-AFD66D43EA12}"/>
    <dgm:cxn modelId="{700BFAF4-DEFF-473B-86C2-3D211CA7DADB}" type="presOf" srcId="{2DDC5155-A633-417D-B083-672822CFADB6}" destId="{68AA8981-BD04-43A9-827C-8DCD68B4CB8D}" srcOrd="0" destOrd="0" presId="urn:microsoft.com/office/officeart/2005/8/layout/vList2"/>
    <dgm:cxn modelId="{0E4E9A76-D5CF-4594-B52B-127B8F5822CD}" type="presParOf" srcId="{68AA8981-BD04-43A9-827C-8DCD68B4CB8D}" destId="{B78956FE-F7CD-48B3-9F22-F1476A359927}" srcOrd="0" destOrd="0" presId="urn:microsoft.com/office/officeart/2005/8/layout/vList2"/>
    <dgm:cxn modelId="{34DB571C-1408-4C8E-9309-DC8AE3FE0D8F}" type="presParOf" srcId="{68AA8981-BD04-43A9-827C-8DCD68B4CB8D}" destId="{067C49C6-4A19-4C3A-AD43-597A77B6AC56}" srcOrd="1" destOrd="0" presId="urn:microsoft.com/office/officeart/2005/8/layout/vList2"/>
    <dgm:cxn modelId="{1F1D7A5F-524F-4F84-BAF9-DBD82AF3129F}" type="presParOf" srcId="{68AA8981-BD04-43A9-827C-8DCD68B4CB8D}" destId="{FCC582C8-FD1B-4C9D-82C8-25F17589E761}" srcOrd="2" destOrd="0" presId="urn:microsoft.com/office/officeart/2005/8/layout/vList2"/>
    <dgm:cxn modelId="{87CA9B9B-DF99-4DBE-A254-6E1FE7EF0412}" type="presParOf" srcId="{68AA8981-BD04-43A9-827C-8DCD68B4CB8D}" destId="{5A9CCB8A-5346-4DB8-827B-C42249D92FE8}"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D6B1760-815B-4CE2-B6D5-4A7A8057DB4B}" type="doc">
      <dgm:prSet loTypeId="urn:microsoft.com/office/officeart/2016/7/layout/LinearArrowProcessNumbered" loCatId="process" qsTypeId="urn:microsoft.com/office/officeart/2005/8/quickstyle/simple1" qsCatId="simple" csTypeId="urn:microsoft.com/office/officeart/2005/8/colors/colorful2" csCatId="colorful" phldr="1"/>
      <dgm:spPr/>
      <dgm:t>
        <a:bodyPr/>
        <a:lstStyle/>
        <a:p>
          <a:endParaRPr lang="en-US"/>
        </a:p>
      </dgm:t>
    </dgm:pt>
    <dgm:pt modelId="{FB0BA976-F468-470E-968B-F3AEC1F2F977}">
      <dgm:prSet/>
      <dgm:spPr/>
      <dgm:t>
        <a:bodyPr/>
        <a:lstStyle/>
        <a:p>
          <a:r>
            <a:rPr lang="de-DE" b="1" i="0" baseline="0"/>
            <a:t>Vectorize the results:</a:t>
          </a:r>
          <a:r>
            <a:rPr lang="de-DE" b="0" i="0" baseline="0"/>
            <a:t> Construct time series of topic intensities from central bank speeches.</a:t>
          </a:r>
          <a:endParaRPr lang="en-US"/>
        </a:p>
      </dgm:t>
    </dgm:pt>
    <dgm:pt modelId="{2BA75C97-87E6-4C9B-AFF7-8AB0DE07C038}" type="parTrans" cxnId="{884EB570-0623-4AFF-900C-28C4AC11222B}">
      <dgm:prSet/>
      <dgm:spPr/>
      <dgm:t>
        <a:bodyPr/>
        <a:lstStyle/>
        <a:p>
          <a:endParaRPr lang="en-US"/>
        </a:p>
      </dgm:t>
    </dgm:pt>
    <dgm:pt modelId="{8A4450E3-645A-4082-9843-E782793E1D89}" type="sibTrans" cxnId="{884EB570-0623-4AFF-900C-28C4AC11222B}">
      <dgm:prSet phldrT="1" phldr="0"/>
      <dgm:spPr/>
      <dgm:t>
        <a:bodyPr/>
        <a:lstStyle/>
        <a:p>
          <a:r>
            <a:rPr lang="en-US"/>
            <a:t>1</a:t>
          </a:r>
        </a:p>
      </dgm:t>
    </dgm:pt>
    <dgm:pt modelId="{A2286C16-91D9-4A5F-9CF8-8D52DD883F42}">
      <dgm:prSet custT="1"/>
      <dgm:spPr/>
      <dgm:t>
        <a:bodyPr/>
        <a:lstStyle/>
        <a:p>
          <a:r>
            <a:rPr lang="de-DE" sz="1100" b="1" i="0" baseline="0" dirty="0" err="1"/>
            <a:t>Estimate</a:t>
          </a:r>
          <a:r>
            <a:rPr lang="de-DE" sz="1100" b="1" i="0" baseline="0" dirty="0"/>
            <a:t> </a:t>
          </a:r>
          <a:r>
            <a:rPr lang="de-DE" sz="1100" b="1" i="0" baseline="0" dirty="0" err="1"/>
            <a:t>dynamic</a:t>
          </a:r>
          <a:r>
            <a:rPr lang="de-DE" sz="1100" b="1" i="0" baseline="0" dirty="0"/>
            <a:t> </a:t>
          </a:r>
          <a:r>
            <a:rPr lang="de-DE" sz="1100" b="1" i="0" baseline="0" dirty="0" err="1"/>
            <a:t>models</a:t>
          </a:r>
          <a:r>
            <a:rPr lang="de-DE" sz="1100" b="0" i="0" baseline="0" dirty="0"/>
            <a:t> </a:t>
          </a:r>
          <a:r>
            <a:rPr lang="de-DE" sz="1100" b="0" i="0" baseline="0" dirty="0" err="1"/>
            <a:t>to</a:t>
          </a:r>
          <a:r>
            <a:rPr lang="de-DE" sz="1100" b="0" i="0" baseline="0" dirty="0"/>
            <a:t> </a:t>
          </a:r>
          <a:r>
            <a:rPr lang="de-DE" sz="1100" b="0" i="0" baseline="0" dirty="0" err="1"/>
            <a:t>study</a:t>
          </a:r>
          <a:r>
            <a:rPr lang="de-DE" sz="1100" b="0" i="0" baseline="0" dirty="0"/>
            <a:t> </a:t>
          </a:r>
          <a:r>
            <a:rPr lang="de-DE" sz="1100" b="0" i="0" baseline="0" dirty="0" err="1"/>
            <a:t>the</a:t>
          </a:r>
          <a:r>
            <a:rPr lang="de-DE" sz="1100" b="0" i="0" baseline="0" dirty="0"/>
            <a:t> </a:t>
          </a:r>
          <a:r>
            <a:rPr lang="de-DE" sz="1100" b="0" i="0" baseline="0" dirty="0" err="1"/>
            <a:t>relationship</a:t>
          </a:r>
          <a:r>
            <a:rPr lang="de-DE" sz="1100" b="0" i="0" baseline="0" dirty="0"/>
            <a:t> </a:t>
          </a:r>
          <a:r>
            <a:rPr lang="de-DE" sz="1100" b="0" i="0" baseline="0" dirty="0" err="1"/>
            <a:t>between</a:t>
          </a:r>
          <a:r>
            <a:rPr lang="de-DE" sz="1100" b="0" i="0" baseline="0" dirty="0"/>
            <a:t> </a:t>
          </a:r>
          <a:r>
            <a:rPr lang="de-DE" sz="1100" b="0" i="0" baseline="0" dirty="0" err="1"/>
            <a:t>speech</a:t>
          </a:r>
          <a:r>
            <a:rPr lang="de-DE" sz="1100" b="0" i="0" baseline="0" dirty="0"/>
            <a:t> </a:t>
          </a:r>
          <a:r>
            <a:rPr lang="de-DE" sz="1100" b="0" i="0" baseline="0" dirty="0" err="1"/>
            <a:t>topics</a:t>
          </a:r>
          <a:r>
            <a:rPr lang="de-DE" sz="1100" b="0" i="0" baseline="0" dirty="0"/>
            <a:t> and </a:t>
          </a:r>
          <a:r>
            <a:rPr lang="de-DE" sz="1100" b="0" i="0" baseline="0" dirty="0" err="1"/>
            <a:t>sovereign</a:t>
          </a:r>
          <a:r>
            <a:rPr lang="de-DE" sz="1100" b="0" i="0" baseline="0" dirty="0"/>
            <a:t> </a:t>
          </a:r>
          <a:r>
            <a:rPr lang="de-DE" sz="1100" b="0" i="0" baseline="0" dirty="0" err="1"/>
            <a:t>spreads</a:t>
          </a:r>
          <a:r>
            <a:rPr lang="de-DE" sz="1100" b="0" i="0" baseline="0" dirty="0"/>
            <a:t>, e.g.:</a:t>
          </a:r>
        </a:p>
        <a:p>
          <a:r>
            <a:rPr lang="de-DE" sz="900" b="0" i="0" baseline="0" dirty="0"/>
            <a:t>VAR / SVAR </a:t>
          </a:r>
          <a:r>
            <a:rPr lang="de-DE" sz="900" b="0" i="0" baseline="0" dirty="0" err="1"/>
            <a:t>models</a:t>
          </a:r>
          <a:r>
            <a:rPr lang="de-DE" sz="900" b="0" i="0" baseline="0" dirty="0"/>
            <a:t>- </a:t>
          </a:r>
          <a:r>
            <a:rPr lang="de-DE" sz="900" b="0" i="0" baseline="0" dirty="0" err="1"/>
            <a:t>Local</a:t>
          </a:r>
          <a:r>
            <a:rPr lang="de-DE" sz="900" b="0" i="0" baseline="0" dirty="0"/>
            <a:t> </a:t>
          </a:r>
          <a:r>
            <a:rPr lang="de-DE" sz="900" b="0" i="0" baseline="0" dirty="0" err="1"/>
            <a:t>projections</a:t>
          </a:r>
          <a:r>
            <a:rPr lang="de-DE" sz="900" b="0" i="0" baseline="0" dirty="0"/>
            <a:t> (Jordà </a:t>
          </a:r>
          <a:r>
            <a:rPr lang="de-DE" sz="900" b="0" i="0" baseline="0" dirty="0" err="1"/>
            <a:t>impulse</a:t>
          </a:r>
          <a:r>
            <a:rPr lang="de-DE" sz="900" b="0" i="0" baseline="0" dirty="0"/>
            <a:t> </a:t>
          </a:r>
          <a:r>
            <a:rPr lang="de-DE" sz="900" b="0" i="0" baseline="0" dirty="0" err="1"/>
            <a:t>responses</a:t>
          </a:r>
          <a:r>
            <a:rPr lang="de-DE" sz="900" b="0" i="0" baseline="0" dirty="0"/>
            <a:t>) Panel VAR </a:t>
          </a:r>
          <a:r>
            <a:rPr lang="de-DE" sz="900" b="0" i="0" baseline="0" dirty="0" err="1"/>
            <a:t>across</a:t>
          </a:r>
          <a:r>
            <a:rPr lang="de-DE" sz="900" b="0" i="0" baseline="0" dirty="0"/>
            <a:t> countries</a:t>
          </a:r>
          <a:endParaRPr lang="en-US" sz="1050" dirty="0"/>
        </a:p>
      </dgm:t>
    </dgm:pt>
    <dgm:pt modelId="{A778DBB1-1689-4434-BB37-EA078A39CC4C}" type="parTrans" cxnId="{D8E71D38-36CE-414F-A696-626634ACD3C7}">
      <dgm:prSet/>
      <dgm:spPr/>
      <dgm:t>
        <a:bodyPr/>
        <a:lstStyle/>
        <a:p>
          <a:endParaRPr lang="en-US"/>
        </a:p>
      </dgm:t>
    </dgm:pt>
    <dgm:pt modelId="{5308357D-433F-42EE-A7E0-0933E49DBD7C}" type="sibTrans" cxnId="{D8E71D38-36CE-414F-A696-626634ACD3C7}">
      <dgm:prSet phldrT="2" phldr="0"/>
      <dgm:spPr/>
      <dgm:t>
        <a:bodyPr/>
        <a:lstStyle/>
        <a:p>
          <a:r>
            <a:rPr lang="en-US"/>
            <a:t>2</a:t>
          </a:r>
        </a:p>
      </dgm:t>
    </dgm:pt>
    <dgm:pt modelId="{C7CE54B9-FE40-4B36-9C71-8ADEE713ED4F}">
      <dgm:prSet/>
      <dgm:spPr/>
      <dgm:t>
        <a:bodyPr/>
        <a:lstStyle/>
        <a:p>
          <a:r>
            <a:rPr lang="de-DE" b="1" i="0" baseline="0"/>
            <a:t>Identify similarities and differences</a:t>
          </a:r>
          <a:r>
            <a:rPr lang="de-DE" b="0" i="0" baseline="0"/>
            <a:t> in how financial markets and central bankers respond to economic shocks.</a:t>
          </a:r>
          <a:endParaRPr lang="en-US"/>
        </a:p>
      </dgm:t>
    </dgm:pt>
    <dgm:pt modelId="{4E38E0C8-0F26-4612-9378-C4DE67EDECF9}" type="parTrans" cxnId="{C74A2681-55A1-4925-B4A7-562F6F8E3BD5}">
      <dgm:prSet/>
      <dgm:spPr/>
      <dgm:t>
        <a:bodyPr/>
        <a:lstStyle/>
        <a:p>
          <a:endParaRPr lang="en-US"/>
        </a:p>
      </dgm:t>
    </dgm:pt>
    <dgm:pt modelId="{F4F34EFF-5D99-47CE-8D7D-5E5E6368D950}" type="sibTrans" cxnId="{C74A2681-55A1-4925-B4A7-562F6F8E3BD5}">
      <dgm:prSet phldrT="3" phldr="0"/>
      <dgm:spPr/>
      <dgm:t>
        <a:bodyPr/>
        <a:lstStyle/>
        <a:p>
          <a:r>
            <a:rPr lang="en-US"/>
            <a:t>3</a:t>
          </a:r>
        </a:p>
      </dgm:t>
    </dgm:pt>
    <dgm:pt modelId="{2ED098AF-BDCB-4929-9116-3F5FE1917875}">
      <dgm:prSet/>
      <dgm:spPr/>
      <dgm:t>
        <a:bodyPr/>
        <a:lstStyle/>
        <a:p>
          <a:r>
            <a:rPr lang="de-DE" b="1" i="0" baseline="0"/>
            <a:t>Contribute to the ongoing debate</a:t>
          </a:r>
          <a:r>
            <a:rPr lang="de-DE" b="0" i="0" baseline="0"/>
            <a:t> on whether a </a:t>
          </a:r>
          <a:r>
            <a:rPr lang="de-DE" b="1" i="0" baseline="0"/>
            <a:t>systematic gap exists between central bank priorities and financial market perceptions</a:t>
          </a:r>
          <a:r>
            <a:rPr lang="de-DE" b="0" i="0" baseline="0"/>
            <a:t>.</a:t>
          </a:r>
          <a:endParaRPr lang="en-US"/>
        </a:p>
      </dgm:t>
    </dgm:pt>
    <dgm:pt modelId="{03716F37-73DC-4A73-974D-BCC4294267A7}" type="parTrans" cxnId="{F0ADBD07-77E2-410F-84E9-1302F403BE0F}">
      <dgm:prSet/>
      <dgm:spPr/>
      <dgm:t>
        <a:bodyPr/>
        <a:lstStyle/>
        <a:p>
          <a:endParaRPr lang="en-US"/>
        </a:p>
      </dgm:t>
    </dgm:pt>
    <dgm:pt modelId="{EE2D6C85-48D1-4A04-87AC-7F285FAF46DB}" type="sibTrans" cxnId="{F0ADBD07-77E2-410F-84E9-1302F403BE0F}">
      <dgm:prSet phldrT="4" phldr="0"/>
      <dgm:spPr/>
      <dgm:t>
        <a:bodyPr/>
        <a:lstStyle/>
        <a:p>
          <a:r>
            <a:rPr lang="en-US"/>
            <a:t>4</a:t>
          </a:r>
        </a:p>
      </dgm:t>
    </dgm:pt>
    <dgm:pt modelId="{500A37CA-D9A1-47AD-9F62-3454B00CB2F3}" type="pres">
      <dgm:prSet presAssocID="{2D6B1760-815B-4CE2-B6D5-4A7A8057DB4B}" presName="linearFlow" presStyleCnt="0">
        <dgm:presLayoutVars>
          <dgm:dir/>
          <dgm:animLvl val="lvl"/>
          <dgm:resizeHandles val="exact"/>
        </dgm:presLayoutVars>
      </dgm:prSet>
      <dgm:spPr/>
    </dgm:pt>
    <dgm:pt modelId="{343B0C96-6604-4DFC-828C-D0CDC863BD57}" type="pres">
      <dgm:prSet presAssocID="{FB0BA976-F468-470E-968B-F3AEC1F2F977}" presName="compositeNode" presStyleCnt="0"/>
      <dgm:spPr/>
    </dgm:pt>
    <dgm:pt modelId="{2BBBC7E9-92A5-4376-8C87-B63169F6BAFF}" type="pres">
      <dgm:prSet presAssocID="{FB0BA976-F468-470E-968B-F3AEC1F2F977}" presName="parTx" presStyleLbl="node1" presStyleIdx="0" presStyleCnt="0">
        <dgm:presLayoutVars>
          <dgm:chMax val="0"/>
          <dgm:chPref val="0"/>
          <dgm:bulletEnabled val="1"/>
        </dgm:presLayoutVars>
      </dgm:prSet>
      <dgm:spPr/>
    </dgm:pt>
    <dgm:pt modelId="{530CFD3A-BF19-4FCA-AAB4-75A0CE63A9EC}" type="pres">
      <dgm:prSet presAssocID="{FB0BA976-F468-470E-968B-F3AEC1F2F977}" presName="parSh" presStyleCnt="0"/>
      <dgm:spPr/>
    </dgm:pt>
    <dgm:pt modelId="{BDC4BEB3-D187-4D93-8882-6808B603EB11}" type="pres">
      <dgm:prSet presAssocID="{FB0BA976-F468-470E-968B-F3AEC1F2F977}" presName="lineNode" presStyleLbl="alignAccFollowNode1" presStyleIdx="0" presStyleCnt="12"/>
      <dgm:spPr/>
    </dgm:pt>
    <dgm:pt modelId="{9577E22E-B2B4-4F20-B09A-5211F716FC48}" type="pres">
      <dgm:prSet presAssocID="{FB0BA976-F468-470E-968B-F3AEC1F2F977}" presName="lineArrowNode" presStyleLbl="alignAccFollowNode1" presStyleIdx="1" presStyleCnt="12"/>
      <dgm:spPr/>
    </dgm:pt>
    <dgm:pt modelId="{627762FE-A714-42D9-ADBB-5107888EE22D}" type="pres">
      <dgm:prSet presAssocID="{8A4450E3-645A-4082-9843-E782793E1D89}" presName="sibTransNodeCircle" presStyleLbl="alignNode1" presStyleIdx="0" presStyleCnt="4">
        <dgm:presLayoutVars>
          <dgm:chMax val="0"/>
          <dgm:bulletEnabled/>
        </dgm:presLayoutVars>
      </dgm:prSet>
      <dgm:spPr/>
    </dgm:pt>
    <dgm:pt modelId="{17F5DB23-749A-4813-957B-AE7C7BBE3EF6}" type="pres">
      <dgm:prSet presAssocID="{8A4450E3-645A-4082-9843-E782793E1D89}" presName="spacerBetweenCircleAndCallout" presStyleCnt="0">
        <dgm:presLayoutVars/>
      </dgm:prSet>
      <dgm:spPr/>
    </dgm:pt>
    <dgm:pt modelId="{644E07C7-D5FD-409B-BA0E-5C8ED64F665C}" type="pres">
      <dgm:prSet presAssocID="{FB0BA976-F468-470E-968B-F3AEC1F2F977}" presName="nodeText" presStyleLbl="alignAccFollowNode1" presStyleIdx="2" presStyleCnt="12">
        <dgm:presLayoutVars>
          <dgm:bulletEnabled val="1"/>
        </dgm:presLayoutVars>
      </dgm:prSet>
      <dgm:spPr/>
    </dgm:pt>
    <dgm:pt modelId="{D6131E62-95C9-4CB4-88D6-5BC102DD1DC9}" type="pres">
      <dgm:prSet presAssocID="{8A4450E3-645A-4082-9843-E782793E1D89}" presName="sibTransComposite" presStyleCnt="0"/>
      <dgm:spPr/>
    </dgm:pt>
    <dgm:pt modelId="{499EFD65-AEFF-4071-8241-2379930A9A21}" type="pres">
      <dgm:prSet presAssocID="{A2286C16-91D9-4A5F-9CF8-8D52DD883F42}" presName="compositeNode" presStyleCnt="0"/>
      <dgm:spPr/>
    </dgm:pt>
    <dgm:pt modelId="{6C1131E6-57E5-48D0-86E4-CACF6298C643}" type="pres">
      <dgm:prSet presAssocID="{A2286C16-91D9-4A5F-9CF8-8D52DD883F42}" presName="parTx" presStyleLbl="node1" presStyleIdx="0" presStyleCnt="0">
        <dgm:presLayoutVars>
          <dgm:chMax val="0"/>
          <dgm:chPref val="0"/>
          <dgm:bulletEnabled val="1"/>
        </dgm:presLayoutVars>
      </dgm:prSet>
      <dgm:spPr/>
    </dgm:pt>
    <dgm:pt modelId="{25322415-6A36-476D-9BC1-7D9B60D17DD9}" type="pres">
      <dgm:prSet presAssocID="{A2286C16-91D9-4A5F-9CF8-8D52DD883F42}" presName="parSh" presStyleCnt="0"/>
      <dgm:spPr/>
    </dgm:pt>
    <dgm:pt modelId="{BF65AE78-B689-42A9-B578-C89BBA60B78D}" type="pres">
      <dgm:prSet presAssocID="{A2286C16-91D9-4A5F-9CF8-8D52DD883F42}" presName="lineNode" presStyleLbl="alignAccFollowNode1" presStyleIdx="3" presStyleCnt="12"/>
      <dgm:spPr/>
    </dgm:pt>
    <dgm:pt modelId="{B070A59F-749B-49FE-93F5-8A42501EDFC3}" type="pres">
      <dgm:prSet presAssocID="{A2286C16-91D9-4A5F-9CF8-8D52DD883F42}" presName="lineArrowNode" presStyleLbl="alignAccFollowNode1" presStyleIdx="4" presStyleCnt="12"/>
      <dgm:spPr/>
    </dgm:pt>
    <dgm:pt modelId="{C4DD0B1A-EFD4-4173-B8A1-FA8339271E64}" type="pres">
      <dgm:prSet presAssocID="{5308357D-433F-42EE-A7E0-0933E49DBD7C}" presName="sibTransNodeCircle" presStyleLbl="alignNode1" presStyleIdx="1" presStyleCnt="4">
        <dgm:presLayoutVars>
          <dgm:chMax val="0"/>
          <dgm:bulletEnabled/>
        </dgm:presLayoutVars>
      </dgm:prSet>
      <dgm:spPr/>
    </dgm:pt>
    <dgm:pt modelId="{36FA48E4-1670-415D-8B24-7B4C0E77B47D}" type="pres">
      <dgm:prSet presAssocID="{5308357D-433F-42EE-A7E0-0933E49DBD7C}" presName="spacerBetweenCircleAndCallout" presStyleCnt="0">
        <dgm:presLayoutVars/>
      </dgm:prSet>
      <dgm:spPr/>
    </dgm:pt>
    <dgm:pt modelId="{6278350E-7052-4152-85A1-EF435CDF3E5E}" type="pres">
      <dgm:prSet presAssocID="{A2286C16-91D9-4A5F-9CF8-8D52DD883F42}" presName="nodeText" presStyleLbl="alignAccFollowNode1" presStyleIdx="5" presStyleCnt="12">
        <dgm:presLayoutVars>
          <dgm:bulletEnabled val="1"/>
        </dgm:presLayoutVars>
      </dgm:prSet>
      <dgm:spPr/>
    </dgm:pt>
    <dgm:pt modelId="{8B430538-2D7F-433D-842E-51D1ED8F133D}" type="pres">
      <dgm:prSet presAssocID="{5308357D-433F-42EE-A7E0-0933E49DBD7C}" presName="sibTransComposite" presStyleCnt="0"/>
      <dgm:spPr/>
    </dgm:pt>
    <dgm:pt modelId="{C0717350-2E25-4CBC-9532-480E9A55F9F2}" type="pres">
      <dgm:prSet presAssocID="{C7CE54B9-FE40-4B36-9C71-8ADEE713ED4F}" presName="compositeNode" presStyleCnt="0"/>
      <dgm:spPr/>
    </dgm:pt>
    <dgm:pt modelId="{016634B5-E2F5-45C2-98F5-4D1639E8A789}" type="pres">
      <dgm:prSet presAssocID="{C7CE54B9-FE40-4B36-9C71-8ADEE713ED4F}" presName="parTx" presStyleLbl="node1" presStyleIdx="0" presStyleCnt="0">
        <dgm:presLayoutVars>
          <dgm:chMax val="0"/>
          <dgm:chPref val="0"/>
          <dgm:bulletEnabled val="1"/>
        </dgm:presLayoutVars>
      </dgm:prSet>
      <dgm:spPr/>
    </dgm:pt>
    <dgm:pt modelId="{64BACF68-083A-45EF-9ACA-E8072B2AE85A}" type="pres">
      <dgm:prSet presAssocID="{C7CE54B9-FE40-4B36-9C71-8ADEE713ED4F}" presName="parSh" presStyleCnt="0"/>
      <dgm:spPr/>
    </dgm:pt>
    <dgm:pt modelId="{F6E2D7C3-2A64-4080-92FF-49AA57C85B1E}" type="pres">
      <dgm:prSet presAssocID="{C7CE54B9-FE40-4B36-9C71-8ADEE713ED4F}" presName="lineNode" presStyleLbl="alignAccFollowNode1" presStyleIdx="6" presStyleCnt="12"/>
      <dgm:spPr/>
    </dgm:pt>
    <dgm:pt modelId="{2033FFE3-9DD0-45A4-8D87-F13E5D1675E2}" type="pres">
      <dgm:prSet presAssocID="{C7CE54B9-FE40-4B36-9C71-8ADEE713ED4F}" presName="lineArrowNode" presStyleLbl="alignAccFollowNode1" presStyleIdx="7" presStyleCnt="12"/>
      <dgm:spPr/>
    </dgm:pt>
    <dgm:pt modelId="{E65C3F70-EE0B-4358-BE32-F00737F1A55B}" type="pres">
      <dgm:prSet presAssocID="{F4F34EFF-5D99-47CE-8D7D-5E5E6368D950}" presName="sibTransNodeCircle" presStyleLbl="alignNode1" presStyleIdx="2" presStyleCnt="4">
        <dgm:presLayoutVars>
          <dgm:chMax val="0"/>
          <dgm:bulletEnabled/>
        </dgm:presLayoutVars>
      </dgm:prSet>
      <dgm:spPr/>
    </dgm:pt>
    <dgm:pt modelId="{B3479F6A-44C0-464B-A0F5-B5C7D721DDAE}" type="pres">
      <dgm:prSet presAssocID="{F4F34EFF-5D99-47CE-8D7D-5E5E6368D950}" presName="spacerBetweenCircleAndCallout" presStyleCnt="0">
        <dgm:presLayoutVars/>
      </dgm:prSet>
      <dgm:spPr/>
    </dgm:pt>
    <dgm:pt modelId="{C7B3A32E-3D68-47CC-A980-C5DC0F97906A}" type="pres">
      <dgm:prSet presAssocID="{C7CE54B9-FE40-4B36-9C71-8ADEE713ED4F}" presName="nodeText" presStyleLbl="alignAccFollowNode1" presStyleIdx="8" presStyleCnt="12">
        <dgm:presLayoutVars>
          <dgm:bulletEnabled val="1"/>
        </dgm:presLayoutVars>
      </dgm:prSet>
      <dgm:spPr/>
    </dgm:pt>
    <dgm:pt modelId="{60E03418-46F9-4949-BCB1-0CA521CBEC89}" type="pres">
      <dgm:prSet presAssocID="{F4F34EFF-5D99-47CE-8D7D-5E5E6368D950}" presName="sibTransComposite" presStyleCnt="0"/>
      <dgm:spPr/>
    </dgm:pt>
    <dgm:pt modelId="{B93E511F-DA50-4C87-9B8C-0EEC0260F335}" type="pres">
      <dgm:prSet presAssocID="{2ED098AF-BDCB-4929-9116-3F5FE1917875}" presName="compositeNode" presStyleCnt="0"/>
      <dgm:spPr/>
    </dgm:pt>
    <dgm:pt modelId="{EAED1661-FDF8-4252-9CC1-5C6895B31D00}" type="pres">
      <dgm:prSet presAssocID="{2ED098AF-BDCB-4929-9116-3F5FE1917875}" presName="parTx" presStyleLbl="node1" presStyleIdx="0" presStyleCnt="0">
        <dgm:presLayoutVars>
          <dgm:chMax val="0"/>
          <dgm:chPref val="0"/>
          <dgm:bulletEnabled val="1"/>
        </dgm:presLayoutVars>
      </dgm:prSet>
      <dgm:spPr/>
    </dgm:pt>
    <dgm:pt modelId="{1361480A-762B-477C-9833-E6EAFF0FDD7E}" type="pres">
      <dgm:prSet presAssocID="{2ED098AF-BDCB-4929-9116-3F5FE1917875}" presName="parSh" presStyleCnt="0"/>
      <dgm:spPr/>
    </dgm:pt>
    <dgm:pt modelId="{C561740F-5D09-4E35-9600-083C4142CEF3}" type="pres">
      <dgm:prSet presAssocID="{2ED098AF-BDCB-4929-9116-3F5FE1917875}" presName="lineNode" presStyleLbl="alignAccFollowNode1" presStyleIdx="9" presStyleCnt="12"/>
      <dgm:spPr/>
    </dgm:pt>
    <dgm:pt modelId="{AFCDBAB1-BD9C-4104-A6B7-A99D30558F38}" type="pres">
      <dgm:prSet presAssocID="{2ED098AF-BDCB-4929-9116-3F5FE1917875}" presName="lineArrowNode" presStyleLbl="alignAccFollowNode1" presStyleIdx="10" presStyleCnt="12"/>
      <dgm:spPr/>
    </dgm:pt>
    <dgm:pt modelId="{4111FD69-E1B6-4CDD-AF9E-6CD9482E2F38}" type="pres">
      <dgm:prSet presAssocID="{EE2D6C85-48D1-4A04-87AC-7F285FAF46DB}" presName="sibTransNodeCircle" presStyleLbl="alignNode1" presStyleIdx="3" presStyleCnt="4">
        <dgm:presLayoutVars>
          <dgm:chMax val="0"/>
          <dgm:bulletEnabled/>
        </dgm:presLayoutVars>
      </dgm:prSet>
      <dgm:spPr/>
    </dgm:pt>
    <dgm:pt modelId="{F5C40108-89C2-45B2-BEA5-97C185631B83}" type="pres">
      <dgm:prSet presAssocID="{EE2D6C85-48D1-4A04-87AC-7F285FAF46DB}" presName="spacerBetweenCircleAndCallout" presStyleCnt="0">
        <dgm:presLayoutVars/>
      </dgm:prSet>
      <dgm:spPr/>
    </dgm:pt>
    <dgm:pt modelId="{47B5174D-93CC-483E-97F8-457050393A05}" type="pres">
      <dgm:prSet presAssocID="{2ED098AF-BDCB-4929-9116-3F5FE1917875}" presName="nodeText" presStyleLbl="alignAccFollowNode1" presStyleIdx="11" presStyleCnt="12">
        <dgm:presLayoutVars>
          <dgm:bulletEnabled val="1"/>
        </dgm:presLayoutVars>
      </dgm:prSet>
      <dgm:spPr/>
    </dgm:pt>
  </dgm:ptLst>
  <dgm:cxnLst>
    <dgm:cxn modelId="{F0ADBD07-77E2-410F-84E9-1302F403BE0F}" srcId="{2D6B1760-815B-4CE2-B6D5-4A7A8057DB4B}" destId="{2ED098AF-BDCB-4929-9116-3F5FE1917875}" srcOrd="3" destOrd="0" parTransId="{03716F37-73DC-4A73-974D-BCC4294267A7}" sibTransId="{EE2D6C85-48D1-4A04-87AC-7F285FAF46DB}"/>
    <dgm:cxn modelId="{D3B91008-8314-4E89-BCB1-5EA1CE1887DA}" type="presOf" srcId="{C7CE54B9-FE40-4B36-9C71-8ADEE713ED4F}" destId="{C7B3A32E-3D68-47CC-A980-C5DC0F97906A}" srcOrd="0" destOrd="0" presId="urn:microsoft.com/office/officeart/2016/7/layout/LinearArrowProcessNumbered"/>
    <dgm:cxn modelId="{720D8510-25F7-4D0F-985D-0C7A97DEC702}" type="presOf" srcId="{2ED098AF-BDCB-4929-9116-3F5FE1917875}" destId="{47B5174D-93CC-483E-97F8-457050393A05}" srcOrd="0" destOrd="0" presId="urn:microsoft.com/office/officeart/2016/7/layout/LinearArrowProcessNumbered"/>
    <dgm:cxn modelId="{C8147120-ED5E-481B-B8A3-9F657AFF009D}" type="presOf" srcId="{F4F34EFF-5D99-47CE-8D7D-5E5E6368D950}" destId="{E65C3F70-EE0B-4358-BE32-F00737F1A55B}" srcOrd="0" destOrd="0" presId="urn:microsoft.com/office/officeart/2016/7/layout/LinearArrowProcessNumbered"/>
    <dgm:cxn modelId="{BB38A127-4CA9-48CC-A1DD-CE041C530401}" type="presOf" srcId="{A2286C16-91D9-4A5F-9CF8-8D52DD883F42}" destId="{6278350E-7052-4152-85A1-EF435CDF3E5E}" srcOrd="0" destOrd="0" presId="urn:microsoft.com/office/officeart/2016/7/layout/LinearArrowProcessNumbered"/>
    <dgm:cxn modelId="{D8E71D38-36CE-414F-A696-626634ACD3C7}" srcId="{2D6B1760-815B-4CE2-B6D5-4A7A8057DB4B}" destId="{A2286C16-91D9-4A5F-9CF8-8D52DD883F42}" srcOrd="1" destOrd="0" parTransId="{A778DBB1-1689-4434-BB37-EA078A39CC4C}" sibTransId="{5308357D-433F-42EE-A7E0-0933E49DBD7C}"/>
    <dgm:cxn modelId="{884EB570-0623-4AFF-900C-28C4AC11222B}" srcId="{2D6B1760-815B-4CE2-B6D5-4A7A8057DB4B}" destId="{FB0BA976-F468-470E-968B-F3AEC1F2F977}" srcOrd="0" destOrd="0" parTransId="{2BA75C97-87E6-4C9B-AFF7-8AB0DE07C038}" sibTransId="{8A4450E3-645A-4082-9843-E782793E1D89}"/>
    <dgm:cxn modelId="{3D2E485A-AAE2-4C3F-9EC4-93E8114C6E17}" type="presOf" srcId="{FB0BA976-F468-470E-968B-F3AEC1F2F977}" destId="{644E07C7-D5FD-409B-BA0E-5C8ED64F665C}" srcOrd="0" destOrd="0" presId="urn:microsoft.com/office/officeart/2016/7/layout/LinearArrowProcessNumbered"/>
    <dgm:cxn modelId="{C74A2681-55A1-4925-B4A7-562F6F8E3BD5}" srcId="{2D6B1760-815B-4CE2-B6D5-4A7A8057DB4B}" destId="{C7CE54B9-FE40-4B36-9C71-8ADEE713ED4F}" srcOrd="2" destOrd="0" parTransId="{4E38E0C8-0F26-4612-9378-C4DE67EDECF9}" sibTransId="{F4F34EFF-5D99-47CE-8D7D-5E5E6368D950}"/>
    <dgm:cxn modelId="{488DCBA2-5ECC-4987-9885-2E34C2DF7BEF}" type="presOf" srcId="{8A4450E3-645A-4082-9843-E782793E1D89}" destId="{627762FE-A714-42D9-ADBB-5107888EE22D}" srcOrd="0" destOrd="0" presId="urn:microsoft.com/office/officeart/2016/7/layout/LinearArrowProcessNumbered"/>
    <dgm:cxn modelId="{2C6FBBE1-E5F1-489A-B441-3EB33A1FE5B4}" type="presOf" srcId="{5308357D-433F-42EE-A7E0-0933E49DBD7C}" destId="{C4DD0B1A-EFD4-4173-B8A1-FA8339271E64}" srcOrd="0" destOrd="0" presId="urn:microsoft.com/office/officeart/2016/7/layout/LinearArrowProcessNumbered"/>
    <dgm:cxn modelId="{7200AAE3-292C-49B2-A7A7-325DC5CE4A27}" type="presOf" srcId="{2D6B1760-815B-4CE2-B6D5-4A7A8057DB4B}" destId="{500A37CA-D9A1-47AD-9F62-3454B00CB2F3}" srcOrd="0" destOrd="0" presId="urn:microsoft.com/office/officeart/2016/7/layout/LinearArrowProcessNumbered"/>
    <dgm:cxn modelId="{1E0DEFF4-79F5-47BD-85EA-4D2127D41F45}" type="presOf" srcId="{EE2D6C85-48D1-4A04-87AC-7F285FAF46DB}" destId="{4111FD69-E1B6-4CDD-AF9E-6CD9482E2F38}" srcOrd="0" destOrd="0" presId="urn:microsoft.com/office/officeart/2016/7/layout/LinearArrowProcessNumbered"/>
    <dgm:cxn modelId="{81DBEF60-B004-4439-BC5C-52632B48DE6B}" type="presParOf" srcId="{500A37CA-D9A1-47AD-9F62-3454B00CB2F3}" destId="{343B0C96-6604-4DFC-828C-D0CDC863BD57}" srcOrd="0" destOrd="0" presId="urn:microsoft.com/office/officeart/2016/7/layout/LinearArrowProcessNumbered"/>
    <dgm:cxn modelId="{E67A628D-E474-43E1-95F1-2EE81D88A7E9}" type="presParOf" srcId="{343B0C96-6604-4DFC-828C-D0CDC863BD57}" destId="{2BBBC7E9-92A5-4376-8C87-B63169F6BAFF}" srcOrd="0" destOrd="0" presId="urn:microsoft.com/office/officeart/2016/7/layout/LinearArrowProcessNumbered"/>
    <dgm:cxn modelId="{8648FB78-E64A-406C-A2B2-55089D35AEDC}" type="presParOf" srcId="{343B0C96-6604-4DFC-828C-D0CDC863BD57}" destId="{530CFD3A-BF19-4FCA-AAB4-75A0CE63A9EC}" srcOrd="1" destOrd="0" presId="urn:microsoft.com/office/officeart/2016/7/layout/LinearArrowProcessNumbered"/>
    <dgm:cxn modelId="{D1F59D57-A166-4C3F-975C-4084404E295C}" type="presParOf" srcId="{530CFD3A-BF19-4FCA-AAB4-75A0CE63A9EC}" destId="{BDC4BEB3-D187-4D93-8882-6808B603EB11}" srcOrd="0" destOrd="0" presId="urn:microsoft.com/office/officeart/2016/7/layout/LinearArrowProcessNumbered"/>
    <dgm:cxn modelId="{405B33D5-EF21-404C-BABE-20E566951166}" type="presParOf" srcId="{530CFD3A-BF19-4FCA-AAB4-75A0CE63A9EC}" destId="{9577E22E-B2B4-4F20-B09A-5211F716FC48}" srcOrd="1" destOrd="0" presId="urn:microsoft.com/office/officeart/2016/7/layout/LinearArrowProcessNumbered"/>
    <dgm:cxn modelId="{A78EE88D-50CD-4341-860F-3FF18B971893}" type="presParOf" srcId="{530CFD3A-BF19-4FCA-AAB4-75A0CE63A9EC}" destId="{627762FE-A714-42D9-ADBB-5107888EE22D}" srcOrd="2" destOrd="0" presId="urn:microsoft.com/office/officeart/2016/7/layout/LinearArrowProcessNumbered"/>
    <dgm:cxn modelId="{FD374C4E-C29D-4E9B-AED3-7F74BAAE59C0}" type="presParOf" srcId="{530CFD3A-BF19-4FCA-AAB4-75A0CE63A9EC}" destId="{17F5DB23-749A-4813-957B-AE7C7BBE3EF6}" srcOrd="3" destOrd="0" presId="urn:microsoft.com/office/officeart/2016/7/layout/LinearArrowProcessNumbered"/>
    <dgm:cxn modelId="{E20E9359-0ADF-47DC-A032-DF7FDF850E2D}" type="presParOf" srcId="{343B0C96-6604-4DFC-828C-D0CDC863BD57}" destId="{644E07C7-D5FD-409B-BA0E-5C8ED64F665C}" srcOrd="2" destOrd="0" presId="urn:microsoft.com/office/officeart/2016/7/layout/LinearArrowProcessNumbered"/>
    <dgm:cxn modelId="{C8E74B6D-EFC4-490A-9111-F10E94414D4A}" type="presParOf" srcId="{500A37CA-D9A1-47AD-9F62-3454B00CB2F3}" destId="{D6131E62-95C9-4CB4-88D6-5BC102DD1DC9}" srcOrd="1" destOrd="0" presId="urn:microsoft.com/office/officeart/2016/7/layout/LinearArrowProcessNumbered"/>
    <dgm:cxn modelId="{5B687215-12D5-4B1F-81ED-15488B4A1FAB}" type="presParOf" srcId="{500A37CA-D9A1-47AD-9F62-3454B00CB2F3}" destId="{499EFD65-AEFF-4071-8241-2379930A9A21}" srcOrd="2" destOrd="0" presId="urn:microsoft.com/office/officeart/2016/7/layout/LinearArrowProcessNumbered"/>
    <dgm:cxn modelId="{FFF00EAA-F457-4126-BAD7-8ACB1506637E}" type="presParOf" srcId="{499EFD65-AEFF-4071-8241-2379930A9A21}" destId="{6C1131E6-57E5-48D0-86E4-CACF6298C643}" srcOrd="0" destOrd="0" presId="urn:microsoft.com/office/officeart/2016/7/layout/LinearArrowProcessNumbered"/>
    <dgm:cxn modelId="{2FDB3167-FBD5-4E37-90CD-BEBDE337C750}" type="presParOf" srcId="{499EFD65-AEFF-4071-8241-2379930A9A21}" destId="{25322415-6A36-476D-9BC1-7D9B60D17DD9}" srcOrd="1" destOrd="0" presId="urn:microsoft.com/office/officeart/2016/7/layout/LinearArrowProcessNumbered"/>
    <dgm:cxn modelId="{534B5A29-D43F-49AA-9D44-693E3B97E52F}" type="presParOf" srcId="{25322415-6A36-476D-9BC1-7D9B60D17DD9}" destId="{BF65AE78-B689-42A9-B578-C89BBA60B78D}" srcOrd="0" destOrd="0" presId="urn:microsoft.com/office/officeart/2016/7/layout/LinearArrowProcessNumbered"/>
    <dgm:cxn modelId="{CBBAC200-BCBC-4C94-8DD8-0A82109953B7}" type="presParOf" srcId="{25322415-6A36-476D-9BC1-7D9B60D17DD9}" destId="{B070A59F-749B-49FE-93F5-8A42501EDFC3}" srcOrd="1" destOrd="0" presId="urn:microsoft.com/office/officeart/2016/7/layout/LinearArrowProcessNumbered"/>
    <dgm:cxn modelId="{EA2500CF-AB8C-4D5B-9D3B-50A565716EED}" type="presParOf" srcId="{25322415-6A36-476D-9BC1-7D9B60D17DD9}" destId="{C4DD0B1A-EFD4-4173-B8A1-FA8339271E64}" srcOrd="2" destOrd="0" presId="urn:microsoft.com/office/officeart/2016/7/layout/LinearArrowProcessNumbered"/>
    <dgm:cxn modelId="{172B6147-24FB-49CB-B1D2-A2AD4BDCBEA2}" type="presParOf" srcId="{25322415-6A36-476D-9BC1-7D9B60D17DD9}" destId="{36FA48E4-1670-415D-8B24-7B4C0E77B47D}" srcOrd="3" destOrd="0" presId="urn:microsoft.com/office/officeart/2016/7/layout/LinearArrowProcessNumbered"/>
    <dgm:cxn modelId="{3173C89D-DAC3-4A42-AD3E-B96E0A1C4070}" type="presParOf" srcId="{499EFD65-AEFF-4071-8241-2379930A9A21}" destId="{6278350E-7052-4152-85A1-EF435CDF3E5E}" srcOrd="2" destOrd="0" presId="urn:microsoft.com/office/officeart/2016/7/layout/LinearArrowProcessNumbered"/>
    <dgm:cxn modelId="{C79923D7-DA1E-4D2A-BAAC-A960CDA5A70E}" type="presParOf" srcId="{500A37CA-D9A1-47AD-9F62-3454B00CB2F3}" destId="{8B430538-2D7F-433D-842E-51D1ED8F133D}" srcOrd="3" destOrd="0" presId="urn:microsoft.com/office/officeart/2016/7/layout/LinearArrowProcessNumbered"/>
    <dgm:cxn modelId="{E96A1805-58B8-4535-A326-628CCC5D9855}" type="presParOf" srcId="{500A37CA-D9A1-47AD-9F62-3454B00CB2F3}" destId="{C0717350-2E25-4CBC-9532-480E9A55F9F2}" srcOrd="4" destOrd="0" presId="urn:microsoft.com/office/officeart/2016/7/layout/LinearArrowProcessNumbered"/>
    <dgm:cxn modelId="{9DE5E2CA-62C6-4841-A616-9B819C1C02B5}" type="presParOf" srcId="{C0717350-2E25-4CBC-9532-480E9A55F9F2}" destId="{016634B5-E2F5-45C2-98F5-4D1639E8A789}" srcOrd="0" destOrd="0" presId="urn:microsoft.com/office/officeart/2016/7/layout/LinearArrowProcessNumbered"/>
    <dgm:cxn modelId="{FF7874E7-36B8-46F4-B61D-30D3C5578EA6}" type="presParOf" srcId="{C0717350-2E25-4CBC-9532-480E9A55F9F2}" destId="{64BACF68-083A-45EF-9ACA-E8072B2AE85A}" srcOrd="1" destOrd="0" presId="urn:microsoft.com/office/officeart/2016/7/layout/LinearArrowProcessNumbered"/>
    <dgm:cxn modelId="{5459922A-498D-4D38-914C-94FF93C6CA07}" type="presParOf" srcId="{64BACF68-083A-45EF-9ACA-E8072B2AE85A}" destId="{F6E2D7C3-2A64-4080-92FF-49AA57C85B1E}" srcOrd="0" destOrd="0" presId="urn:microsoft.com/office/officeart/2016/7/layout/LinearArrowProcessNumbered"/>
    <dgm:cxn modelId="{E24A7496-AEA9-4701-8412-16CC8705A7C2}" type="presParOf" srcId="{64BACF68-083A-45EF-9ACA-E8072B2AE85A}" destId="{2033FFE3-9DD0-45A4-8D87-F13E5D1675E2}" srcOrd="1" destOrd="0" presId="urn:microsoft.com/office/officeart/2016/7/layout/LinearArrowProcessNumbered"/>
    <dgm:cxn modelId="{C3F6E115-1DA4-4E60-BBC3-BEE9F3D77B76}" type="presParOf" srcId="{64BACF68-083A-45EF-9ACA-E8072B2AE85A}" destId="{E65C3F70-EE0B-4358-BE32-F00737F1A55B}" srcOrd="2" destOrd="0" presId="urn:microsoft.com/office/officeart/2016/7/layout/LinearArrowProcessNumbered"/>
    <dgm:cxn modelId="{5139D47E-E18B-4A27-99B3-BDA5771C87DB}" type="presParOf" srcId="{64BACF68-083A-45EF-9ACA-E8072B2AE85A}" destId="{B3479F6A-44C0-464B-A0F5-B5C7D721DDAE}" srcOrd="3" destOrd="0" presId="urn:microsoft.com/office/officeart/2016/7/layout/LinearArrowProcessNumbered"/>
    <dgm:cxn modelId="{297D9B3C-4CA7-4B63-8116-5A59B6E8E360}" type="presParOf" srcId="{C0717350-2E25-4CBC-9532-480E9A55F9F2}" destId="{C7B3A32E-3D68-47CC-A980-C5DC0F97906A}" srcOrd="2" destOrd="0" presId="urn:microsoft.com/office/officeart/2016/7/layout/LinearArrowProcessNumbered"/>
    <dgm:cxn modelId="{E50B81BF-6ECA-40A5-BD0D-E08FBE3AF83F}" type="presParOf" srcId="{500A37CA-D9A1-47AD-9F62-3454B00CB2F3}" destId="{60E03418-46F9-4949-BCB1-0CA521CBEC89}" srcOrd="5" destOrd="0" presId="urn:microsoft.com/office/officeart/2016/7/layout/LinearArrowProcessNumbered"/>
    <dgm:cxn modelId="{72281DD7-AF0A-4689-9FE4-22686DF31CA6}" type="presParOf" srcId="{500A37CA-D9A1-47AD-9F62-3454B00CB2F3}" destId="{B93E511F-DA50-4C87-9B8C-0EEC0260F335}" srcOrd="6" destOrd="0" presId="urn:microsoft.com/office/officeart/2016/7/layout/LinearArrowProcessNumbered"/>
    <dgm:cxn modelId="{B9A9A02C-F578-42F3-A508-5F6205C92389}" type="presParOf" srcId="{B93E511F-DA50-4C87-9B8C-0EEC0260F335}" destId="{EAED1661-FDF8-4252-9CC1-5C6895B31D00}" srcOrd="0" destOrd="0" presId="urn:microsoft.com/office/officeart/2016/7/layout/LinearArrowProcessNumbered"/>
    <dgm:cxn modelId="{3A736A79-5D14-4612-B3BF-B61F868DE11E}" type="presParOf" srcId="{B93E511F-DA50-4C87-9B8C-0EEC0260F335}" destId="{1361480A-762B-477C-9833-E6EAFF0FDD7E}" srcOrd="1" destOrd="0" presId="urn:microsoft.com/office/officeart/2016/7/layout/LinearArrowProcessNumbered"/>
    <dgm:cxn modelId="{64224846-4637-422E-9D62-E294C8B8AEF0}" type="presParOf" srcId="{1361480A-762B-477C-9833-E6EAFF0FDD7E}" destId="{C561740F-5D09-4E35-9600-083C4142CEF3}" srcOrd="0" destOrd="0" presId="urn:microsoft.com/office/officeart/2016/7/layout/LinearArrowProcessNumbered"/>
    <dgm:cxn modelId="{AA39FF50-5502-4118-A8B7-45F009C4667C}" type="presParOf" srcId="{1361480A-762B-477C-9833-E6EAFF0FDD7E}" destId="{AFCDBAB1-BD9C-4104-A6B7-A99D30558F38}" srcOrd="1" destOrd="0" presId="urn:microsoft.com/office/officeart/2016/7/layout/LinearArrowProcessNumbered"/>
    <dgm:cxn modelId="{2D9BDFC4-682D-49D1-900C-D903BC337A90}" type="presParOf" srcId="{1361480A-762B-477C-9833-E6EAFF0FDD7E}" destId="{4111FD69-E1B6-4CDD-AF9E-6CD9482E2F38}" srcOrd="2" destOrd="0" presId="urn:microsoft.com/office/officeart/2016/7/layout/LinearArrowProcessNumbered"/>
    <dgm:cxn modelId="{F57B0E22-FC0B-4BF3-9745-42B793A5446B}" type="presParOf" srcId="{1361480A-762B-477C-9833-E6EAFF0FDD7E}" destId="{F5C40108-89C2-45B2-BEA5-97C185631B83}" srcOrd="3" destOrd="0" presId="urn:microsoft.com/office/officeart/2016/7/layout/LinearArrowProcessNumbered"/>
    <dgm:cxn modelId="{490D8AD3-B00A-4A85-BC4E-CBF0F19810FF}" type="presParOf" srcId="{B93E511F-DA50-4C87-9B8C-0EEC0260F335}" destId="{47B5174D-93CC-483E-97F8-457050393A05}" srcOrd="2" destOrd="0" presId="urn:microsoft.com/office/officeart/2016/7/layout/LinearArrow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8956FE-F7CD-48B3-9F22-F1476A359927}">
      <dsp:nvSpPr>
        <dsp:cNvPr id="0" name=""/>
        <dsp:cNvSpPr/>
      </dsp:nvSpPr>
      <dsp:spPr>
        <a:xfrm>
          <a:off x="0" y="20555"/>
          <a:ext cx="6364224" cy="52767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a:t>Why is this important?</a:t>
          </a:r>
          <a:endParaRPr lang="en-US" sz="2200" kern="1200"/>
        </a:p>
      </dsp:txBody>
      <dsp:txXfrm>
        <a:off x="25759" y="46314"/>
        <a:ext cx="6312706" cy="476152"/>
      </dsp:txXfrm>
    </dsp:sp>
    <dsp:sp modelId="{067C49C6-4A19-4C3A-AD43-597A77B6AC56}">
      <dsp:nvSpPr>
        <dsp:cNvPr id="0" name=""/>
        <dsp:cNvSpPr/>
      </dsp:nvSpPr>
      <dsp:spPr>
        <a:xfrm>
          <a:off x="0" y="548226"/>
          <a:ext cx="6364224" cy="2231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2064"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a:t>Understanding the relationship between </a:t>
          </a:r>
          <a:r>
            <a:rPr lang="en-US" sz="1700" b="1" kern="1200"/>
            <a:t>market signals and central bank priorities</a:t>
          </a:r>
          <a:r>
            <a:rPr lang="en-US" sz="1700" kern="1200"/>
            <a:t> </a:t>
          </a:r>
        </a:p>
        <a:p>
          <a:pPr marL="171450" lvl="1" indent="-171450" algn="l" defTabSz="755650">
            <a:lnSpc>
              <a:spcPct val="90000"/>
            </a:lnSpc>
            <a:spcBef>
              <a:spcPct val="0"/>
            </a:spcBef>
            <a:spcAft>
              <a:spcPct val="20000"/>
            </a:spcAft>
            <a:buChar char="•"/>
          </a:pPr>
          <a:r>
            <a:rPr lang="en-US" sz="1700" kern="1200"/>
            <a:t>helps explain how policy and market perceptions interact.</a:t>
          </a:r>
        </a:p>
        <a:p>
          <a:pPr marL="171450" lvl="1" indent="-171450" algn="l" defTabSz="755650">
            <a:lnSpc>
              <a:spcPct val="90000"/>
            </a:lnSpc>
            <a:spcBef>
              <a:spcPct val="0"/>
            </a:spcBef>
            <a:spcAft>
              <a:spcPct val="20000"/>
            </a:spcAft>
            <a:buChar char="•"/>
          </a:pPr>
          <a:r>
            <a:rPr lang="en-US" sz="1700" kern="1200"/>
            <a:t>If financial markets and policymakers focus on </a:t>
          </a:r>
          <a:r>
            <a:rPr lang="en-US" sz="1700" b="1" kern="1200"/>
            <a:t>different risks</a:t>
          </a:r>
          <a:r>
            <a:rPr lang="en-US" sz="1700" kern="1200"/>
            <a:t>, </a:t>
          </a:r>
        </a:p>
        <a:p>
          <a:pPr marL="171450" lvl="1" indent="-171450" algn="l" defTabSz="755650">
            <a:lnSpc>
              <a:spcPct val="90000"/>
            </a:lnSpc>
            <a:spcBef>
              <a:spcPct val="0"/>
            </a:spcBef>
            <a:spcAft>
              <a:spcPct val="20000"/>
            </a:spcAft>
            <a:buChar char="•"/>
          </a:pPr>
          <a:r>
            <a:rPr lang="en-US" sz="1700" kern="1200"/>
            <a:t>this may lead to </a:t>
          </a:r>
          <a:r>
            <a:rPr lang="en-US" sz="1700" b="1" kern="1200"/>
            <a:t>mispricing, policy uncertainty, or weaker policy transmission</a:t>
          </a:r>
          <a:r>
            <a:rPr lang="en-US" sz="1700" kern="1200"/>
            <a:t>.</a:t>
          </a:r>
        </a:p>
        <a:p>
          <a:pPr marL="171450" lvl="1" indent="-171450" algn="l" defTabSz="755650">
            <a:lnSpc>
              <a:spcPct val="90000"/>
            </a:lnSpc>
            <a:spcBef>
              <a:spcPct val="0"/>
            </a:spcBef>
            <a:spcAft>
              <a:spcPct val="20000"/>
            </a:spcAft>
            <a:buChar char="•"/>
          </a:pPr>
          <a:r>
            <a:rPr lang="en-US" sz="1700" kern="1200"/>
            <a:t>Identifying these </a:t>
          </a:r>
          <a:r>
            <a:rPr lang="en-US" sz="1700" b="1" kern="1200"/>
            <a:t>differences improves our understanding of </a:t>
          </a:r>
          <a:endParaRPr lang="en-US" sz="1700" kern="1200"/>
        </a:p>
        <a:p>
          <a:pPr marL="171450" lvl="1" indent="-171450" algn="l" defTabSz="755650">
            <a:lnSpc>
              <a:spcPct val="90000"/>
            </a:lnSpc>
            <a:spcBef>
              <a:spcPct val="0"/>
            </a:spcBef>
            <a:spcAft>
              <a:spcPct val="20000"/>
            </a:spcAft>
            <a:buChar char="•"/>
          </a:pPr>
          <a:r>
            <a:rPr lang="en-US" sz="1700" b="1" kern="1200"/>
            <a:t>monetary policy credibility and financial market reactions.</a:t>
          </a:r>
          <a:endParaRPr lang="en-US" sz="1700" kern="1200"/>
        </a:p>
      </dsp:txBody>
      <dsp:txXfrm>
        <a:off x="0" y="548226"/>
        <a:ext cx="6364224" cy="2231460"/>
      </dsp:txXfrm>
    </dsp:sp>
    <dsp:sp modelId="{FCC582C8-FD1B-4C9D-82C8-25F17589E761}">
      <dsp:nvSpPr>
        <dsp:cNvPr id="0" name=""/>
        <dsp:cNvSpPr/>
      </dsp:nvSpPr>
      <dsp:spPr>
        <a:xfrm>
          <a:off x="0" y="2779686"/>
          <a:ext cx="6364224" cy="527670"/>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a:t>Strategy </a:t>
          </a:r>
          <a:endParaRPr lang="en-US" sz="2200" kern="1200"/>
        </a:p>
      </dsp:txBody>
      <dsp:txXfrm>
        <a:off x="25759" y="2805445"/>
        <a:ext cx="6312706" cy="476152"/>
      </dsp:txXfrm>
    </dsp:sp>
    <dsp:sp modelId="{5A9CCB8A-5346-4DB8-827B-C42249D92FE8}">
      <dsp:nvSpPr>
        <dsp:cNvPr id="0" name=""/>
        <dsp:cNvSpPr/>
      </dsp:nvSpPr>
      <dsp:spPr>
        <a:xfrm>
          <a:off x="0" y="3307356"/>
          <a:ext cx="6364224" cy="218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2064"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de-DE" sz="1700" b="1" kern="1200"/>
            <a:t>Financial market</a:t>
          </a:r>
          <a:endParaRPr lang="en-US" sz="1700" kern="1200"/>
        </a:p>
        <a:p>
          <a:pPr marL="171450" lvl="1" indent="-171450" algn="l" defTabSz="755650">
            <a:lnSpc>
              <a:spcPct val="90000"/>
            </a:lnSpc>
            <a:spcBef>
              <a:spcPct val="0"/>
            </a:spcBef>
            <a:spcAft>
              <a:spcPct val="20000"/>
            </a:spcAft>
            <a:buChar char="•"/>
          </a:pPr>
          <a:r>
            <a:rPr lang="de-DE" sz="1700" b="1" kern="1200"/>
            <a:t>Sovereign spreads</a:t>
          </a:r>
          <a:r>
            <a:rPr lang="de-DE" sz="1700" kern="1200"/>
            <a:t> signal how markets evaluate macroeconomic fundamentals such as </a:t>
          </a:r>
          <a:endParaRPr lang="en-US" sz="1700" kern="1200"/>
        </a:p>
        <a:p>
          <a:pPr marL="171450" lvl="1" indent="-171450" algn="l" defTabSz="755650">
            <a:lnSpc>
              <a:spcPct val="90000"/>
            </a:lnSpc>
            <a:spcBef>
              <a:spcPct val="0"/>
            </a:spcBef>
            <a:spcAft>
              <a:spcPct val="20000"/>
            </a:spcAft>
            <a:buChar char="•"/>
          </a:pPr>
          <a:r>
            <a:rPr lang="de-DE" sz="1700" kern="1200"/>
            <a:t>GDP growth, competitiveness (REER), fiscal sustainability (Debt/GDP) , and international vouneralability (Currrent account) </a:t>
          </a:r>
          <a:endParaRPr lang="en-US" sz="1700" kern="1200"/>
        </a:p>
        <a:p>
          <a:pPr marL="171450" lvl="1" indent="-171450" algn="l" defTabSz="755650">
            <a:lnSpc>
              <a:spcPct val="90000"/>
            </a:lnSpc>
            <a:spcBef>
              <a:spcPct val="0"/>
            </a:spcBef>
            <a:spcAft>
              <a:spcPct val="20000"/>
            </a:spcAft>
            <a:buChar char="•"/>
          </a:pPr>
          <a:r>
            <a:rPr lang="de-DE" sz="1700" b="1" kern="1200"/>
            <a:t>Central bankers</a:t>
          </a:r>
          <a:endParaRPr lang="en-US" sz="1700" kern="1200"/>
        </a:p>
        <a:p>
          <a:pPr marL="171450" lvl="1" indent="-171450" algn="l" defTabSz="755650">
            <a:lnSpc>
              <a:spcPct val="90000"/>
            </a:lnSpc>
            <a:spcBef>
              <a:spcPct val="0"/>
            </a:spcBef>
            <a:spcAft>
              <a:spcPct val="20000"/>
            </a:spcAft>
            <a:buChar char="•"/>
          </a:pPr>
          <a:r>
            <a:rPr lang="de-DE" sz="1700" b="1" i="0" kern="1200" baseline="0"/>
            <a:t>Speeches</a:t>
          </a:r>
          <a:r>
            <a:rPr lang="de-DE" sz="1700" i="0" kern="1200" baseline="0"/>
            <a:t> serve as a proxy for the issues policymakers consider most relevant.</a:t>
          </a:r>
          <a:endParaRPr lang="en-US" sz="1700" kern="1200"/>
        </a:p>
      </dsp:txBody>
      <dsp:txXfrm>
        <a:off x="0" y="3307356"/>
        <a:ext cx="6364224" cy="21859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C4BEB3-D187-4D93-8882-6808B603EB11}">
      <dsp:nvSpPr>
        <dsp:cNvPr id="0" name=""/>
        <dsp:cNvSpPr/>
      </dsp:nvSpPr>
      <dsp:spPr>
        <a:xfrm>
          <a:off x="797858" y="1861835"/>
          <a:ext cx="635800" cy="71"/>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577E22E-B2B4-4F20-B09A-5211F716FC48}">
      <dsp:nvSpPr>
        <dsp:cNvPr id="0" name=""/>
        <dsp:cNvSpPr/>
      </dsp:nvSpPr>
      <dsp:spPr>
        <a:xfrm>
          <a:off x="1471807" y="1808411"/>
          <a:ext cx="73117" cy="137252"/>
        </a:xfrm>
        <a:prstGeom prst="chevron">
          <a:avLst>
            <a:gd name="adj" fmla="val 90000"/>
          </a:avLst>
        </a:prstGeom>
        <a:solidFill>
          <a:schemeClr val="accent2">
            <a:tint val="40000"/>
            <a:alpha val="90000"/>
            <a:hueOff val="-77202"/>
            <a:satOff val="-6850"/>
            <a:lumOff val="-70"/>
            <a:alphaOff val="0"/>
          </a:schemeClr>
        </a:solidFill>
        <a:ln w="12700" cap="flat" cmpd="sng" algn="ctr">
          <a:solidFill>
            <a:schemeClr val="accent2">
              <a:tint val="40000"/>
              <a:alpha val="90000"/>
              <a:hueOff val="-77202"/>
              <a:satOff val="-6850"/>
              <a:lumOff val="-7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27762FE-A714-42D9-ADBB-5107888EE22D}">
      <dsp:nvSpPr>
        <dsp:cNvPr id="0" name=""/>
        <dsp:cNvSpPr/>
      </dsp:nvSpPr>
      <dsp:spPr>
        <a:xfrm>
          <a:off x="419200" y="1562688"/>
          <a:ext cx="598366" cy="59836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3220" tIns="23220" rIns="23220" bIns="23220" numCol="1" spcCol="1270" anchor="ctr" anchorCtr="0">
          <a:noAutofit/>
        </a:bodyPr>
        <a:lstStyle/>
        <a:p>
          <a:pPr marL="0" lvl="0" indent="0" algn="ctr" defTabSz="1155700">
            <a:lnSpc>
              <a:spcPct val="90000"/>
            </a:lnSpc>
            <a:spcBef>
              <a:spcPct val="0"/>
            </a:spcBef>
            <a:spcAft>
              <a:spcPct val="35000"/>
            </a:spcAft>
            <a:buNone/>
          </a:pPr>
          <a:r>
            <a:rPr lang="en-US" sz="2600" kern="1200"/>
            <a:t>1</a:t>
          </a:r>
        </a:p>
      </dsp:txBody>
      <dsp:txXfrm>
        <a:off x="506829" y="1650317"/>
        <a:ext cx="423108" cy="423108"/>
      </dsp:txXfrm>
    </dsp:sp>
    <dsp:sp modelId="{644E07C7-D5FD-409B-BA0E-5C8ED64F665C}">
      <dsp:nvSpPr>
        <dsp:cNvPr id="0" name=""/>
        <dsp:cNvSpPr/>
      </dsp:nvSpPr>
      <dsp:spPr>
        <a:xfrm>
          <a:off x="3107" y="2326394"/>
          <a:ext cx="1430552" cy="1965600"/>
        </a:xfrm>
        <a:prstGeom prst="upArrowCallout">
          <a:avLst>
            <a:gd name="adj1" fmla="val 50000"/>
            <a:gd name="adj2" fmla="val 20000"/>
            <a:gd name="adj3" fmla="val 20000"/>
            <a:gd name="adj4" fmla="val 100000"/>
          </a:avLst>
        </a:prstGeom>
        <a:solidFill>
          <a:schemeClr val="accent2">
            <a:tint val="40000"/>
            <a:alpha val="90000"/>
            <a:hueOff val="-154405"/>
            <a:satOff val="-13699"/>
            <a:lumOff val="-140"/>
            <a:alphaOff val="0"/>
          </a:schemeClr>
        </a:solidFill>
        <a:ln w="12700" cap="flat" cmpd="sng" algn="ctr">
          <a:solidFill>
            <a:schemeClr val="accent2">
              <a:tint val="40000"/>
              <a:alpha val="90000"/>
              <a:hueOff val="-154405"/>
              <a:satOff val="-13699"/>
              <a:lumOff val="-14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2844" tIns="165100" rIns="112844" bIns="165100" numCol="1" spcCol="1270" anchor="t" anchorCtr="0">
          <a:noAutofit/>
        </a:bodyPr>
        <a:lstStyle/>
        <a:p>
          <a:pPr marL="0" lvl="0" indent="0" algn="l" defTabSz="488950">
            <a:lnSpc>
              <a:spcPct val="90000"/>
            </a:lnSpc>
            <a:spcBef>
              <a:spcPct val="0"/>
            </a:spcBef>
            <a:spcAft>
              <a:spcPct val="35000"/>
            </a:spcAft>
            <a:buNone/>
          </a:pPr>
          <a:r>
            <a:rPr lang="de-DE" sz="1100" b="1" i="0" kern="1200" baseline="0"/>
            <a:t>Vectorize the results:</a:t>
          </a:r>
          <a:r>
            <a:rPr lang="de-DE" sz="1100" b="0" i="0" kern="1200" baseline="0"/>
            <a:t> Construct time series of topic intensities from central bank speeches.</a:t>
          </a:r>
          <a:endParaRPr lang="en-US" sz="1100" kern="1200"/>
        </a:p>
      </dsp:txBody>
      <dsp:txXfrm>
        <a:off x="3107" y="2612504"/>
        <a:ext cx="1430552" cy="1679490"/>
      </dsp:txXfrm>
    </dsp:sp>
    <dsp:sp modelId="{BF65AE78-B689-42A9-B578-C89BBA60B78D}">
      <dsp:nvSpPr>
        <dsp:cNvPr id="0" name=""/>
        <dsp:cNvSpPr/>
      </dsp:nvSpPr>
      <dsp:spPr>
        <a:xfrm>
          <a:off x="1592609" y="1862304"/>
          <a:ext cx="1430552" cy="72"/>
        </a:xfrm>
        <a:prstGeom prst="rect">
          <a:avLst/>
        </a:prstGeom>
        <a:solidFill>
          <a:schemeClr val="accent2">
            <a:tint val="40000"/>
            <a:alpha val="90000"/>
            <a:hueOff val="-231607"/>
            <a:satOff val="-20549"/>
            <a:lumOff val="-210"/>
            <a:alphaOff val="0"/>
          </a:schemeClr>
        </a:solidFill>
        <a:ln w="12700" cap="flat" cmpd="sng" algn="ctr">
          <a:solidFill>
            <a:schemeClr val="accent2">
              <a:tint val="40000"/>
              <a:alpha val="90000"/>
              <a:hueOff val="-231607"/>
              <a:satOff val="-20549"/>
              <a:lumOff val="-21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070A59F-749B-49FE-93F5-8A42501EDFC3}">
      <dsp:nvSpPr>
        <dsp:cNvPr id="0" name=""/>
        <dsp:cNvSpPr/>
      </dsp:nvSpPr>
      <dsp:spPr>
        <a:xfrm>
          <a:off x="3061309" y="1808796"/>
          <a:ext cx="73117" cy="137682"/>
        </a:xfrm>
        <a:prstGeom prst="chevron">
          <a:avLst>
            <a:gd name="adj" fmla="val 90000"/>
          </a:avLst>
        </a:prstGeom>
        <a:solidFill>
          <a:schemeClr val="accent2">
            <a:tint val="40000"/>
            <a:alpha val="90000"/>
            <a:hueOff val="-308809"/>
            <a:satOff val="-27399"/>
            <a:lumOff val="-280"/>
            <a:alphaOff val="0"/>
          </a:schemeClr>
        </a:solidFill>
        <a:ln w="12700" cap="flat" cmpd="sng" algn="ctr">
          <a:solidFill>
            <a:schemeClr val="accent2">
              <a:tint val="40000"/>
              <a:alpha val="90000"/>
              <a:hueOff val="-308809"/>
              <a:satOff val="-27399"/>
              <a:lumOff val="-28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4DD0B1A-EFD4-4173-B8A1-FA8339271E64}">
      <dsp:nvSpPr>
        <dsp:cNvPr id="0" name=""/>
        <dsp:cNvSpPr/>
      </dsp:nvSpPr>
      <dsp:spPr>
        <a:xfrm>
          <a:off x="2008702" y="1563156"/>
          <a:ext cx="598366" cy="598366"/>
        </a:xfrm>
        <a:prstGeom prst="ellipse">
          <a:avLst/>
        </a:prstGeom>
        <a:solidFill>
          <a:schemeClr val="accent2">
            <a:hueOff val="-485121"/>
            <a:satOff val="-27976"/>
            <a:lumOff val="2876"/>
            <a:alphaOff val="0"/>
          </a:schemeClr>
        </a:solidFill>
        <a:ln w="12700" cap="flat" cmpd="sng" algn="ctr">
          <a:solidFill>
            <a:schemeClr val="accent2">
              <a:hueOff val="-485121"/>
              <a:satOff val="-27976"/>
              <a:lumOff val="287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3220" tIns="23220" rIns="23220" bIns="23220" numCol="1" spcCol="1270" anchor="ctr" anchorCtr="0">
          <a:noAutofit/>
        </a:bodyPr>
        <a:lstStyle/>
        <a:p>
          <a:pPr marL="0" lvl="0" indent="0" algn="ctr" defTabSz="1155700">
            <a:lnSpc>
              <a:spcPct val="90000"/>
            </a:lnSpc>
            <a:spcBef>
              <a:spcPct val="0"/>
            </a:spcBef>
            <a:spcAft>
              <a:spcPct val="35000"/>
            </a:spcAft>
            <a:buNone/>
          </a:pPr>
          <a:r>
            <a:rPr lang="en-US" sz="2600" kern="1200"/>
            <a:t>2</a:t>
          </a:r>
        </a:p>
      </dsp:txBody>
      <dsp:txXfrm>
        <a:off x="2096331" y="1650785"/>
        <a:ext cx="423108" cy="423108"/>
      </dsp:txXfrm>
    </dsp:sp>
    <dsp:sp modelId="{6278350E-7052-4152-85A1-EF435CDF3E5E}">
      <dsp:nvSpPr>
        <dsp:cNvPr id="0" name=""/>
        <dsp:cNvSpPr/>
      </dsp:nvSpPr>
      <dsp:spPr>
        <a:xfrm>
          <a:off x="1592609" y="2327591"/>
          <a:ext cx="1430552" cy="1965600"/>
        </a:xfrm>
        <a:prstGeom prst="upArrowCallout">
          <a:avLst>
            <a:gd name="adj1" fmla="val 50000"/>
            <a:gd name="adj2" fmla="val 20000"/>
            <a:gd name="adj3" fmla="val 20000"/>
            <a:gd name="adj4" fmla="val 100000"/>
          </a:avLst>
        </a:prstGeom>
        <a:solidFill>
          <a:schemeClr val="accent2">
            <a:tint val="40000"/>
            <a:alpha val="90000"/>
            <a:hueOff val="-386012"/>
            <a:satOff val="-34248"/>
            <a:lumOff val="-350"/>
            <a:alphaOff val="0"/>
          </a:schemeClr>
        </a:solidFill>
        <a:ln w="12700" cap="flat" cmpd="sng" algn="ctr">
          <a:solidFill>
            <a:schemeClr val="accent2">
              <a:tint val="40000"/>
              <a:alpha val="90000"/>
              <a:hueOff val="-386012"/>
              <a:satOff val="-34248"/>
              <a:lumOff val="-35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2844" tIns="165100" rIns="112844" bIns="165100" numCol="1" spcCol="1270" anchor="t" anchorCtr="0">
          <a:noAutofit/>
        </a:bodyPr>
        <a:lstStyle/>
        <a:p>
          <a:pPr marL="0" lvl="0" indent="0" algn="l" defTabSz="488950">
            <a:lnSpc>
              <a:spcPct val="90000"/>
            </a:lnSpc>
            <a:spcBef>
              <a:spcPct val="0"/>
            </a:spcBef>
            <a:spcAft>
              <a:spcPct val="35000"/>
            </a:spcAft>
            <a:buNone/>
          </a:pPr>
          <a:r>
            <a:rPr lang="de-DE" sz="1100" b="1" i="0" kern="1200" baseline="0" dirty="0" err="1"/>
            <a:t>Estimate</a:t>
          </a:r>
          <a:r>
            <a:rPr lang="de-DE" sz="1100" b="1" i="0" kern="1200" baseline="0" dirty="0"/>
            <a:t> </a:t>
          </a:r>
          <a:r>
            <a:rPr lang="de-DE" sz="1100" b="1" i="0" kern="1200" baseline="0" dirty="0" err="1"/>
            <a:t>dynamic</a:t>
          </a:r>
          <a:r>
            <a:rPr lang="de-DE" sz="1100" b="1" i="0" kern="1200" baseline="0" dirty="0"/>
            <a:t> </a:t>
          </a:r>
          <a:r>
            <a:rPr lang="de-DE" sz="1100" b="1" i="0" kern="1200" baseline="0" dirty="0" err="1"/>
            <a:t>models</a:t>
          </a:r>
          <a:r>
            <a:rPr lang="de-DE" sz="1100" b="0" i="0" kern="1200" baseline="0" dirty="0"/>
            <a:t> </a:t>
          </a:r>
          <a:r>
            <a:rPr lang="de-DE" sz="1100" b="0" i="0" kern="1200" baseline="0" dirty="0" err="1"/>
            <a:t>to</a:t>
          </a:r>
          <a:r>
            <a:rPr lang="de-DE" sz="1100" b="0" i="0" kern="1200" baseline="0" dirty="0"/>
            <a:t> </a:t>
          </a:r>
          <a:r>
            <a:rPr lang="de-DE" sz="1100" b="0" i="0" kern="1200" baseline="0" dirty="0" err="1"/>
            <a:t>study</a:t>
          </a:r>
          <a:r>
            <a:rPr lang="de-DE" sz="1100" b="0" i="0" kern="1200" baseline="0" dirty="0"/>
            <a:t> </a:t>
          </a:r>
          <a:r>
            <a:rPr lang="de-DE" sz="1100" b="0" i="0" kern="1200" baseline="0" dirty="0" err="1"/>
            <a:t>the</a:t>
          </a:r>
          <a:r>
            <a:rPr lang="de-DE" sz="1100" b="0" i="0" kern="1200" baseline="0" dirty="0"/>
            <a:t> </a:t>
          </a:r>
          <a:r>
            <a:rPr lang="de-DE" sz="1100" b="0" i="0" kern="1200" baseline="0" dirty="0" err="1"/>
            <a:t>relationship</a:t>
          </a:r>
          <a:r>
            <a:rPr lang="de-DE" sz="1100" b="0" i="0" kern="1200" baseline="0" dirty="0"/>
            <a:t> </a:t>
          </a:r>
          <a:r>
            <a:rPr lang="de-DE" sz="1100" b="0" i="0" kern="1200" baseline="0" dirty="0" err="1"/>
            <a:t>between</a:t>
          </a:r>
          <a:r>
            <a:rPr lang="de-DE" sz="1100" b="0" i="0" kern="1200" baseline="0" dirty="0"/>
            <a:t> </a:t>
          </a:r>
          <a:r>
            <a:rPr lang="de-DE" sz="1100" b="0" i="0" kern="1200" baseline="0" dirty="0" err="1"/>
            <a:t>speech</a:t>
          </a:r>
          <a:r>
            <a:rPr lang="de-DE" sz="1100" b="0" i="0" kern="1200" baseline="0" dirty="0"/>
            <a:t> </a:t>
          </a:r>
          <a:r>
            <a:rPr lang="de-DE" sz="1100" b="0" i="0" kern="1200" baseline="0" dirty="0" err="1"/>
            <a:t>topics</a:t>
          </a:r>
          <a:r>
            <a:rPr lang="de-DE" sz="1100" b="0" i="0" kern="1200" baseline="0" dirty="0"/>
            <a:t> and </a:t>
          </a:r>
          <a:r>
            <a:rPr lang="de-DE" sz="1100" b="0" i="0" kern="1200" baseline="0" dirty="0" err="1"/>
            <a:t>sovereign</a:t>
          </a:r>
          <a:r>
            <a:rPr lang="de-DE" sz="1100" b="0" i="0" kern="1200" baseline="0" dirty="0"/>
            <a:t> </a:t>
          </a:r>
          <a:r>
            <a:rPr lang="de-DE" sz="1100" b="0" i="0" kern="1200" baseline="0" dirty="0" err="1"/>
            <a:t>spreads</a:t>
          </a:r>
          <a:r>
            <a:rPr lang="de-DE" sz="1100" b="0" i="0" kern="1200" baseline="0" dirty="0"/>
            <a:t>, e.g.:</a:t>
          </a:r>
        </a:p>
        <a:p>
          <a:pPr marL="0" lvl="0" indent="0" algn="l" defTabSz="488950">
            <a:lnSpc>
              <a:spcPct val="90000"/>
            </a:lnSpc>
            <a:spcBef>
              <a:spcPct val="0"/>
            </a:spcBef>
            <a:spcAft>
              <a:spcPct val="35000"/>
            </a:spcAft>
            <a:buNone/>
          </a:pPr>
          <a:r>
            <a:rPr lang="de-DE" sz="900" b="0" i="0" kern="1200" baseline="0" dirty="0"/>
            <a:t>VAR / SVAR </a:t>
          </a:r>
          <a:r>
            <a:rPr lang="de-DE" sz="900" b="0" i="0" kern="1200" baseline="0" dirty="0" err="1"/>
            <a:t>models</a:t>
          </a:r>
          <a:r>
            <a:rPr lang="de-DE" sz="900" b="0" i="0" kern="1200" baseline="0" dirty="0"/>
            <a:t>- </a:t>
          </a:r>
          <a:r>
            <a:rPr lang="de-DE" sz="900" b="0" i="0" kern="1200" baseline="0" dirty="0" err="1"/>
            <a:t>Local</a:t>
          </a:r>
          <a:r>
            <a:rPr lang="de-DE" sz="900" b="0" i="0" kern="1200" baseline="0" dirty="0"/>
            <a:t> </a:t>
          </a:r>
          <a:r>
            <a:rPr lang="de-DE" sz="900" b="0" i="0" kern="1200" baseline="0" dirty="0" err="1"/>
            <a:t>projections</a:t>
          </a:r>
          <a:r>
            <a:rPr lang="de-DE" sz="900" b="0" i="0" kern="1200" baseline="0" dirty="0"/>
            <a:t> (Jordà </a:t>
          </a:r>
          <a:r>
            <a:rPr lang="de-DE" sz="900" b="0" i="0" kern="1200" baseline="0" dirty="0" err="1"/>
            <a:t>impulse</a:t>
          </a:r>
          <a:r>
            <a:rPr lang="de-DE" sz="900" b="0" i="0" kern="1200" baseline="0" dirty="0"/>
            <a:t> </a:t>
          </a:r>
          <a:r>
            <a:rPr lang="de-DE" sz="900" b="0" i="0" kern="1200" baseline="0" dirty="0" err="1"/>
            <a:t>responses</a:t>
          </a:r>
          <a:r>
            <a:rPr lang="de-DE" sz="900" b="0" i="0" kern="1200" baseline="0" dirty="0"/>
            <a:t>) Panel VAR </a:t>
          </a:r>
          <a:r>
            <a:rPr lang="de-DE" sz="900" b="0" i="0" kern="1200" baseline="0" dirty="0" err="1"/>
            <a:t>across</a:t>
          </a:r>
          <a:r>
            <a:rPr lang="de-DE" sz="900" b="0" i="0" kern="1200" baseline="0" dirty="0"/>
            <a:t> countries</a:t>
          </a:r>
          <a:endParaRPr lang="en-US" sz="1050" kern="1200" dirty="0"/>
        </a:p>
      </dsp:txBody>
      <dsp:txXfrm>
        <a:off x="1592609" y="2613701"/>
        <a:ext cx="1430552" cy="1679490"/>
      </dsp:txXfrm>
    </dsp:sp>
    <dsp:sp modelId="{F6E2D7C3-2A64-4080-92FF-49AA57C85B1E}">
      <dsp:nvSpPr>
        <dsp:cNvPr id="0" name=""/>
        <dsp:cNvSpPr/>
      </dsp:nvSpPr>
      <dsp:spPr>
        <a:xfrm>
          <a:off x="3182112" y="1862304"/>
          <a:ext cx="1430552" cy="72"/>
        </a:xfrm>
        <a:prstGeom prst="rect">
          <a:avLst/>
        </a:prstGeom>
        <a:solidFill>
          <a:schemeClr val="accent2">
            <a:tint val="40000"/>
            <a:alpha val="90000"/>
            <a:hueOff val="-463214"/>
            <a:satOff val="-41098"/>
            <a:lumOff val="-419"/>
            <a:alphaOff val="0"/>
          </a:schemeClr>
        </a:solidFill>
        <a:ln w="12700" cap="flat" cmpd="sng" algn="ctr">
          <a:solidFill>
            <a:schemeClr val="accent2">
              <a:tint val="40000"/>
              <a:alpha val="90000"/>
              <a:hueOff val="-463214"/>
              <a:satOff val="-41098"/>
              <a:lumOff val="-419"/>
              <a:alphaOff val="0"/>
            </a:schemeClr>
          </a:solidFill>
          <a:prstDash val="solid"/>
          <a:miter lim="800000"/>
        </a:ln>
        <a:effectLst/>
      </dsp:spPr>
      <dsp:style>
        <a:lnRef idx="2">
          <a:scrgbClr r="0" g="0" b="0"/>
        </a:lnRef>
        <a:fillRef idx="1">
          <a:scrgbClr r="0" g="0" b="0"/>
        </a:fillRef>
        <a:effectRef idx="0">
          <a:scrgbClr r="0" g="0" b="0"/>
        </a:effectRef>
        <a:fontRef idx="minor"/>
      </dsp:style>
    </dsp:sp>
    <dsp:sp modelId="{2033FFE3-9DD0-45A4-8D87-F13E5D1675E2}">
      <dsp:nvSpPr>
        <dsp:cNvPr id="0" name=""/>
        <dsp:cNvSpPr/>
      </dsp:nvSpPr>
      <dsp:spPr>
        <a:xfrm>
          <a:off x="4650812" y="1808796"/>
          <a:ext cx="73117" cy="137682"/>
        </a:xfrm>
        <a:prstGeom prst="chevron">
          <a:avLst>
            <a:gd name="adj" fmla="val 90000"/>
          </a:avLst>
        </a:prstGeom>
        <a:solidFill>
          <a:schemeClr val="accent2">
            <a:tint val="40000"/>
            <a:alpha val="90000"/>
            <a:hueOff val="-540417"/>
            <a:satOff val="-47947"/>
            <a:lumOff val="-489"/>
            <a:alphaOff val="0"/>
          </a:schemeClr>
        </a:solidFill>
        <a:ln w="12700" cap="flat" cmpd="sng" algn="ctr">
          <a:solidFill>
            <a:schemeClr val="accent2">
              <a:tint val="40000"/>
              <a:alpha val="90000"/>
              <a:hueOff val="-540417"/>
              <a:satOff val="-47947"/>
              <a:lumOff val="-489"/>
              <a:alphaOff val="0"/>
            </a:schemeClr>
          </a:solidFill>
          <a:prstDash val="solid"/>
          <a:miter lim="800000"/>
        </a:ln>
        <a:effectLst/>
      </dsp:spPr>
      <dsp:style>
        <a:lnRef idx="2">
          <a:scrgbClr r="0" g="0" b="0"/>
        </a:lnRef>
        <a:fillRef idx="1">
          <a:scrgbClr r="0" g="0" b="0"/>
        </a:fillRef>
        <a:effectRef idx="0">
          <a:scrgbClr r="0" g="0" b="0"/>
        </a:effectRef>
        <a:fontRef idx="minor"/>
      </dsp:style>
    </dsp:sp>
    <dsp:sp modelId="{E65C3F70-EE0B-4358-BE32-F00737F1A55B}">
      <dsp:nvSpPr>
        <dsp:cNvPr id="0" name=""/>
        <dsp:cNvSpPr/>
      </dsp:nvSpPr>
      <dsp:spPr>
        <a:xfrm>
          <a:off x="3598204" y="1563156"/>
          <a:ext cx="598366" cy="598366"/>
        </a:xfrm>
        <a:prstGeom prst="ellipse">
          <a:avLst/>
        </a:prstGeom>
        <a:solidFill>
          <a:schemeClr val="accent2">
            <a:hueOff val="-970242"/>
            <a:satOff val="-55952"/>
            <a:lumOff val="5752"/>
            <a:alphaOff val="0"/>
          </a:schemeClr>
        </a:solidFill>
        <a:ln w="12700" cap="flat" cmpd="sng" algn="ctr">
          <a:solidFill>
            <a:schemeClr val="accent2">
              <a:hueOff val="-970242"/>
              <a:satOff val="-55952"/>
              <a:lumOff val="575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3220" tIns="23220" rIns="23220" bIns="23220" numCol="1" spcCol="1270" anchor="ctr" anchorCtr="0">
          <a:noAutofit/>
        </a:bodyPr>
        <a:lstStyle/>
        <a:p>
          <a:pPr marL="0" lvl="0" indent="0" algn="ctr" defTabSz="1155700">
            <a:lnSpc>
              <a:spcPct val="90000"/>
            </a:lnSpc>
            <a:spcBef>
              <a:spcPct val="0"/>
            </a:spcBef>
            <a:spcAft>
              <a:spcPct val="35000"/>
            </a:spcAft>
            <a:buNone/>
          </a:pPr>
          <a:r>
            <a:rPr lang="en-US" sz="2600" kern="1200"/>
            <a:t>3</a:t>
          </a:r>
        </a:p>
      </dsp:txBody>
      <dsp:txXfrm>
        <a:off x="3685833" y="1650785"/>
        <a:ext cx="423108" cy="423108"/>
      </dsp:txXfrm>
    </dsp:sp>
    <dsp:sp modelId="{C7B3A32E-3D68-47CC-A980-C5DC0F97906A}">
      <dsp:nvSpPr>
        <dsp:cNvPr id="0" name=""/>
        <dsp:cNvSpPr/>
      </dsp:nvSpPr>
      <dsp:spPr>
        <a:xfrm>
          <a:off x="3182112" y="2327591"/>
          <a:ext cx="1430552" cy="1965600"/>
        </a:xfrm>
        <a:prstGeom prst="upArrowCallout">
          <a:avLst>
            <a:gd name="adj1" fmla="val 50000"/>
            <a:gd name="adj2" fmla="val 20000"/>
            <a:gd name="adj3" fmla="val 20000"/>
            <a:gd name="adj4" fmla="val 100000"/>
          </a:avLst>
        </a:prstGeom>
        <a:solidFill>
          <a:schemeClr val="accent2">
            <a:tint val="40000"/>
            <a:alpha val="90000"/>
            <a:hueOff val="-617619"/>
            <a:satOff val="-54797"/>
            <a:lumOff val="-559"/>
            <a:alphaOff val="0"/>
          </a:schemeClr>
        </a:solidFill>
        <a:ln w="12700" cap="flat" cmpd="sng" algn="ctr">
          <a:solidFill>
            <a:schemeClr val="accent2">
              <a:tint val="40000"/>
              <a:alpha val="90000"/>
              <a:hueOff val="-617619"/>
              <a:satOff val="-54797"/>
              <a:lumOff val="-55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2844" tIns="165100" rIns="112844" bIns="165100" numCol="1" spcCol="1270" anchor="t" anchorCtr="0">
          <a:noAutofit/>
        </a:bodyPr>
        <a:lstStyle/>
        <a:p>
          <a:pPr marL="0" lvl="0" indent="0" algn="l" defTabSz="488950">
            <a:lnSpc>
              <a:spcPct val="90000"/>
            </a:lnSpc>
            <a:spcBef>
              <a:spcPct val="0"/>
            </a:spcBef>
            <a:spcAft>
              <a:spcPct val="35000"/>
            </a:spcAft>
            <a:buNone/>
          </a:pPr>
          <a:r>
            <a:rPr lang="de-DE" sz="1100" b="1" i="0" kern="1200" baseline="0"/>
            <a:t>Identify similarities and differences</a:t>
          </a:r>
          <a:r>
            <a:rPr lang="de-DE" sz="1100" b="0" i="0" kern="1200" baseline="0"/>
            <a:t> in how financial markets and central bankers respond to economic shocks.</a:t>
          </a:r>
          <a:endParaRPr lang="en-US" sz="1100" kern="1200"/>
        </a:p>
      </dsp:txBody>
      <dsp:txXfrm>
        <a:off x="3182112" y="2613701"/>
        <a:ext cx="1430552" cy="1679490"/>
      </dsp:txXfrm>
    </dsp:sp>
    <dsp:sp modelId="{C561740F-5D09-4E35-9600-083C4142CEF3}">
      <dsp:nvSpPr>
        <dsp:cNvPr id="0" name=""/>
        <dsp:cNvSpPr/>
      </dsp:nvSpPr>
      <dsp:spPr>
        <a:xfrm>
          <a:off x="4771614" y="1862304"/>
          <a:ext cx="715276" cy="72"/>
        </a:xfrm>
        <a:prstGeom prst="rect">
          <a:avLst/>
        </a:prstGeom>
        <a:solidFill>
          <a:schemeClr val="accent2">
            <a:tint val="40000"/>
            <a:alpha val="90000"/>
            <a:hueOff val="-694821"/>
            <a:satOff val="-61647"/>
            <a:lumOff val="-629"/>
            <a:alphaOff val="0"/>
          </a:schemeClr>
        </a:solidFill>
        <a:ln w="12700" cap="flat" cmpd="sng" algn="ctr">
          <a:solidFill>
            <a:schemeClr val="accent2">
              <a:tint val="40000"/>
              <a:alpha val="90000"/>
              <a:hueOff val="-694821"/>
              <a:satOff val="-61647"/>
              <a:lumOff val="-629"/>
              <a:alphaOff val="0"/>
            </a:schemeClr>
          </a:solidFill>
          <a:prstDash val="solid"/>
          <a:miter lim="800000"/>
        </a:ln>
        <a:effectLst/>
      </dsp:spPr>
      <dsp:style>
        <a:lnRef idx="2">
          <a:scrgbClr r="0" g="0" b="0"/>
        </a:lnRef>
        <a:fillRef idx="1">
          <a:scrgbClr r="0" g="0" b="0"/>
        </a:fillRef>
        <a:effectRef idx="0">
          <a:scrgbClr r="0" g="0" b="0"/>
        </a:effectRef>
        <a:fontRef idx="minor"/>
      </dsp:style>
    </dsp:sp>
    <dsp:sp modelId="{4111FD69-E1B6-4CDD-AF9E-6CD9482E2F38}">
      <dsp:nvSpPr>
        <dsp:cNvPr id="0" name=""/>
        <dsp:cNvSpPr/>
      </dsp:nvSpPr>
      <dsp:spPr>
        <a:xfrm>
          <a:off x="5187707" y="1563156"/>
          <a:ext cx="598366" cy="598366"/>
        </a:xfrm>
        <a:prstGeom prst="ellipse">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3220" tIns="23220" rIns="23220" bIns="23220" numCol="1" spcCol="1270" anchor="ctr" anchorCtr="0">
          <a:noAutofit/>
        </a:bodyPr>
        <a:lstStyle/>
        <a:p>
          <a:pPr marL="0" lvl="0" indent="0" algn="ctr" defTabSz="1155700">
            <a:lnSpc>
              <a:spcPct val="90000"/>
            </a:lnSpc>
            <a:spcBef>
              <a:spcPct val="0"/>
            </a:spcBef>
            <a:spcAft>
              <a:spcPct val="35000"/>
            </a:spcAft>
            <a:buNone/>
          </a:pPr>
          <a:r>
            <a:rPr lang="en-US" sz="2600" kern="1200"/>
            <a:t>4</a:t>
          </a:r>
        </a:p>
      </dsp:txBody>
      <dsp:txXfrm>
        <a:off x="5275336" y="1650785"/>
        <a:ext cx="423108" cy="423108"/>
      </dsp:txXfrm>
    </dsp:sp>
    <dsp:sp modelId="{47B5174D-93CC-483E-97F8-457050393A05}">
      <dsp:nvSpPr>
        <dsp:cNvPr id="0" name=""/>
        <dsp:cNvSpPr/>
      </dsp:nvSpPr>
      <dsp:spPr>
        <a:xfrm>
          <a:off x="4771614" y="2327591"/>
          <a:ext cx="1430552" cy="1965600"/>
        </a:xfrm>
        <a:prstGeom prst="upArrowCallout">
          <a:avLst>
            <a:gd name="adj1" fmla="val 50000"/>
            <a:gd name="adj2" fmla="val 20000"/>
            <a:gd name="adj3" fmla="val 20000"/>
            <a:gd name="adj4" fmla="val 100000"/>
          </a:avLst>
        </a:prstGeom>
        <a:solidFill>
          <a:schemeClr val="accent2">
            <a:tint val="40000"/>
            <a:alpha val="90000"/>
            <a:hueOff val="-849226"/>
            <a:satOff val="-75346"/>
            <a:lumOff val="-769"/>
            <a:alphaOff val="0"/>
          </a:schemeClr>
        </a:solidFill>
        <a:ln w="12700" cap="flat" cmpd="sng" algn="ctr">
          <a:solidFill>
            <a:schemeClr val="accent2">
              <a:tint val="40000"/>
              <a:alpha val="90000"/>
              <a:hueOff val="-849226"/>
              <a:satOff val="-75346"/>
              <a:lumOff val="-7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2844" tIns="165100" rIns="112844" bIns="165100" numCol="1" spcCol="1270" anchor="t" anchorCtr="0">
          <a:noAutofit/>
        </a:bodyPr>
        <a:lstStyle/>
        <a:p>
          <a:pPr marL="0" lvl="0" indent="0" algn="l" defTabSz="488950">
            <a:lnSpc>
              <a:spcPct val="90000"/>
            </a:lnSpc>
            <a:spcBef>
              <a:spcPct val="0"/>
            </a:spcBef>
            <a:spcAft>
              <a:spcPct val="35000"/>
            </a:spcAft>
            <a:buNone/>
          </a:pPr>
          <a:r>
            <a:rPr lang="de-DE" sz="1100" b="1" i="0" kern="1200" baseline="0"/>
            <a:t>Contribute to the ongoing debate</a:t>
          </a:r>
          <a:r>
            <a:rPr lang="de-DE" sz="1100" b="0" i="0" kern="1200" baseline="0"/>
            <a:t> on whether a </a:t>
          </a:r>
          <a:r>
            <a:rPr lang="de-DE" sz="1100" b="1" i="0" kern="1200" baseline="0"/>
            <a:t>systematic gap exists between central bank priorities and financial market perceptions</a:t>
          </a:r>
          <a:r>
            <a:rPr lang="de-DE" sz="1100" b="0" i="0" kern="1200" baseline="0"/>
            <a:t>.</a:t>
          </a:r>
          <a:endParaRPr lang="en-US" sz="1100" kern="1200"/>
        </a:p>
      </dsp:txBody>
      <dsp:txXfrm>
        <a:off x="4771614" y="2613701"/>
        <a:ext cx="1430552" cy="167949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6/7/layout/LinearArrowProcessNumbered">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09FB93-DD58-DE42-BEDF-9D37D75E840C}" type="datetimeFigureOut">
              <a:rPr lang="en-US" smtClean="0"/>
              <a:t>3/8/2026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688282-8B30-0B42-9285-010852DBD346}" type="slidenum">
              <a:rPr lang="en-US" smtClean="0"/>
              <a:t>‹#›</a:t>
            </a:fld>
            <a:endParaRPr lang="en-US"/>
          </a:p>
        </p:txBody>
      </p:sp>
    </p:spTree>
    <p:extLst>
      <p:ext uri="{BB962C8B-B14F-4D97-AF65-F5344CB8AC3E}">
        <p14:creationId xmlns:p14="http://schemas.microsoft.com/office/powerpoint/2010/main" val="3026480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46B1D-A890-218A-FAB8-EEFCD556047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3955737-AA27-D903-1396-25F54BBA1E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5159B51-7D51-D4F5-B55C-EFA0B6B90F5B}"/>
              </a:ext>
            </a:extLst>
          </p:cNvPr>
          <p:cNvSpPr>
            <a:spLocks noGrp="1"/>
          </p:cNvSpPr>
          <p:nvPr>
            <p:ph type="dt" sz="half" idx="10"/>
          </p:nvPr>
        </p:nvSpPr>
        <p:spPr/>
        <p:txBody>
          <a:bodyPr/>
          <a:lstStyle/>
          <a:p>
            <a:fld id="{AD01470F-6625-284D-A1C4-B53CE120BEB0}" type="datetimeFigureOut">
              <a:rPr lang="en-US" smtClean="0"/>
              <a:t>3/8/2026</a:t>
            </a:fld>
            <a:endParaRPr lang="en-US"/>
          </a:p>
        </p:txBody>
      </p:sp>
      <p:sp>
        <p:nvSpPr>
          <p:cNvPr id="5" name="Footer Placeholder 4">
            <a:extLst>
              <a:ext uri="{FF2B5EF4-FFF2-40B4-BE49-F238E27FC236}">
                <a16:creationId xmlns:a16="http://schemas.microsoft.com/office/drawing/2014/main" id="{BC71AB07-9270-530A-16D1-9C7595F227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9297AF-BE6E-0365-90F1-0CEFA64D0787}"/>
              </a:ext>
            </a:extLst>
          </p:cNvPr>
          <p:cNvSpPr>
            <a:spLocks noGrp="1"/>
          </p:cNvSpPr>
          <p:nvPr>
            <p:ph type="sldNum" sz="quarter" idx="12"/>
          </p:nvPr>
        </p:nvSpPr>
        <p:spPr/>
        <p:txBody>
          <a:bodyPr/>
          <a:lstStyle/>
          <a:p>
            <a:fld id="{F92E8C9D-8853-7742-AE2C-67304AD31A5A}" type="slidenum">
              <a:rPr lang="en-US" smtClean="0"/>
              <a:t>‹#›</a:t>
            </a:fld>
            <a:endParaRPr lang="en-US"/>
          </a:p>
        </p:txBody>
      </p:sp>
    </p:spTree>
    <p:extLst>
      <p:ext uri="{BB962C8B-B14F-4D97-AF65-F5344CB8AC3E}">
        <p14:creationId xmlns:p14="http://schemas.microsoft.com/office/powerpoint/2010/main" val="804986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6FE01-FF2E-3952-7172-0D55420D7B5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BDF5EB-3239-97A8-B782-EAB7BFF78CF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5EC8DB-2E4F-0294-45D7-5B083FC1F8B5}"/>
              </a:ext>
            </a:extLst>
          </p:cNvPr>
          <p:cNvSpPr>
            <a:spLocks noGrp="1"/>
          </p:cNvSpPr>
          <p:nvPr>
            <p:ph type="dt" sz="half" idx="10"/>
          </p:nvPr>
        </p:nvSpPr>
        <p:spPr/>
        <p:txBody>
          <a:bodyPr/>
          <a:lstStyle/>
          <a:p>
            <a:fld id="{AD01470F-6625-284D-A1C4-B53CE120BEB0}" type="datetimeFigureOut">
              <a:rPr lang="en-US" smtClean="0"/>
              <a:t>3/8/2026</a:t>
            </a:fld>
            <a:endParaRPr lang="en-US"/>
          </a:p>
        </p:txBody>
      </p:sp>
      <p:sp>
        <p:nvSpPr>
          <p:cNvPr id="5" name="Footer Placeholder 4">
            <a:extLst>
              <a:ext uri="{FF2B5EF4-FFF2-40B4-BE49-F238E27FC236}">
                <a16:creationId xmlns:a16="http://schemas.microsoft.com/office/drawing/2014/main" id="{3411C600-FDF0-370E-9B79-7F883C2F44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755DF0-DF71-9CDA-5F42-798AC96B3EC7}"/>
              </a:ext>
            </a:extLst>
          </p:cNvPr>
          <p:cNvSpPr>
            <a:spLocks noGrp="1"/>
          </p:cNvSpPr>
          <p:nvPr>
            <p:ph type="sldNum" sz="quarter" idx="12"/>
          </p:nvPr>
        </p:nvSpPr>
        <p:spPr/>
        <p:txBody>
          <a:bodyPr/>
          <a:lstStyle/>
          <a:p>
            <a:fld id="{F92E8C9D-8853-7742-AE2C-67304AD31A5A}" type="slidenum">
              <a:rPr lang="en-US" smtClean="0"/>
              <a:t>‹#›</a:t>
            </a:fld>
            <a:endParaRPr lang="en-US"/>
          </a:p>
        </p:txBody>
      </p:sp>
    </p:spTree>
    <p:extLst>
      <p:ext uri="{BB962C8B-B14F-4D97-AF65-F5344CB8AC3E}">
        <p14:creationId xmlns:p14="http://schemas.microsoft.com/office/powerpoint/2010/main" val="10151758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AEF57-4A98-7DF4-2A20-F1643B976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5F28394-A144-D95E-0557-733B6E69A77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E2F9BA6-A7F7-C89C-62DA-9EBE194F882F}"/>
              </a:ext>
            </a:extLst>
          </p:cNvPr>
          <p:cNvSpPr>
            <a:spLocks noGrp="1"/>
          </p:cNvSpPr>
          <p:nvPr>
            <p:ph type="dt" sz="half" idx="10"/>
          </p:nvPr>
        </p:nvSpPr>
        <p:spPr/>
        <p:txBody>
          <a:bodyPr/>
          <a:lstStyle/>
          <a:p>
            <a:fld id="{AD01470F-6625-284D-A1C4-B53CE120BEB0}" type="datetimeFigureOut">
              <a:rPr lang="en-US" smtClean="0"/>
              <a:t>3/8/2026</a:t>
            </a:fld>
            <a:endParaRPr lang="en-US"/>
          </a:p>
        </p:txBody>
      </p:sp>
      <p:sp>
        <p:nvSpPr>
          <p:cNvPr id="5" name="Footer Placeholder 4">
            <a:extLst>
              <a:ext uri="{FF2B5EF4-FFF2-40B4-BE49-F238E27FC236}">
                <a16:creationId xmlns:a16="http://schemas.microsoft.com/office/drawing/2014/main" id="{676739B5-696C-D0AE-FD32-9E2F7D173D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1AF762-9BF4-B2D1-175F-F41688634289}"/>
              </a:ext>
            </a:extLst>
          </p:cNvPr>
          <p:cNvSpPr>
            <a:spLocks noGrp="1"/>
          </p:cNvSpPr>
          <p:nvPr>
            <p:ph type="sldNum" sz="quarter" idx="12"/>
          </p:nvPr>
        </p:nvSpPr>
        <p:spPr/>
        <p:txBody>
          <a:bodyPr/>
          <a:lstStyle/>
          <a:p>
            <a:fld id="{F92E8C9D-8853-7742-AE2C-67304AD31A5A}" type="slidenum">
              <a:rPr lang="en-US" smtClean="0"/>
              <a:t>‹#›</a:t>
            </a:fld>
            <a:endParaRPr lang="en-US"/>
          </a:p>
        </p:txBody>
      </p:sp>
    </p:spTree>
    <p:extLst>
      <p:ext uri="{BB962C8B-B14F-4D97-AF65-F5344CB8AC3E}">
        <p14:creationId xmlns:p14="http://schemas.microsoft.com/office/powerpoint/2010/main" val="15430219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191F6-0B7A-F46E-A017-277DDF5E09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1A29813-C9DB-9EE2-D3C5-C69605D1F06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715ED35-8E69-CDB2-DA83-B0409848E6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66A8C45-36B8-4DA8-842A-37CB8F47997A}"/>
              </a:ext>
            </a:extLst>
          </p:cNvPr>
          <p:cNvSpPr>
            <a:spLocks noGrp="1"/>
          </p:cNvSpPr>
          <p:nvPr>
            <p:ph type="dt" sz="half" idx="10"/>
          </p:nvPr>
        </p:nvSpPr>
        <p:spPr/>
        <p:txBody>
          <a:bodyPr/>
          <a:lstStyle/>
          <a:p>
            <a:fld id="{AD01470F-6625-284D-A1C4-B53CE120BEB0}" type="datetimeFigureOut">
              <a:rPr lang="en-US" smtClean="0"/>
              <a:t>3/8/2026</a:t>
            </a:fld>
            <a:endParaRPr lang="en-US"/>
          </a:p>
        </p:txBody>
      </p:sp>
      <p:sp>
        <p:nvSpPr>
          <p:cNvPr id="6" name="Footer Placeholder 5">
            <a:extLst>
              <a:ext uri="{FF2B5EF4-FFF2-40B4-BE49-F238E27FC236}">
                <a16:creationId xmlns:a16="http://schemas.microsoft.com/office/drawing/2014/main" id="{AE162275-6BFB-E19C-5A9F-094C3F3FF5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995151-311E-A06C-A170-D050C4906411}"/>
              </a:ext>
            </a:extLst>
          </p:cNvPr>
          <p:cNvSpPr>
            <a:spLocks noGrp="1"/>
          </p:cNvSpPr>
          <p:nvPr>
            <p:ph type="sldNum" sz="quarter" idx="12"/>
          </p:nvPr>
        </p:nvSpPr>
        <p:spPr/>
        <p:txBody>
          <a:bodyPr/>
          <a:lstStyle/>
          <a:p>
            <a:fld id="{F92E8C9D-8853-7742-AE2C-67304AD31A5A}" type="slidenum">
              <a:rPr lang="en-US" smtClean="0"/>
              <a:t>‹#›</a:t>
            </a:fld>
            <a:endParaRPr lang="en-US"/>
          </a:p>
        </p:txBody>
      </p:sp>
    </p:spTree>
    <p:extLst>
      <p:ext uri="{BB962C8B-B14F-4D97-AF65-F5344CB8AC3E}">
        <p14:creationId xmlns:p14="http://schemas.microsoft.com/office/powerpoint/2010/main" val="36226793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21878-FA70-D856-A2EC-A98360174C8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3D94CFA-0DDD-CA54-3974-9D726285E5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F4CD3B0-51C8-20D9-3DA6-4B0627CF085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A764CE2-EEAE-072E-5D9E-BB4FC29B40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F9B564F-CC69-96C7-377E-C82E9C06335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18D6517-BBC1-2035-5B29-FA022B2E4AA5}"/>
              </a:ext>
            </a:extLst>
          </p:cNvPr>
          <p:cNvSpPr>
            <a:spLocks noGrp="1"/>
          </p:cNvSpPr>
          <p:nvPr>
            <p:ph type="dt" sz="half" idx="10"/>
          </p:nvPr>
        </p:nvSpPr>
        <p:spPr/>
        <p:txBody>
          <a:bodyPr/>
          <a:lstStyle/>
          <a:p>
            <a:fld id="{AD01470F-6625-284D-A1C4-B53CE120BEB0}" type="datetimeFigureOut">
              <a:rPr lang="en-US" smtClean="0"/>
              <a:t>3/8/2026</a:t>
            </a:fld>
            <a:endParaRPr lang="en-US"/>
          </a:p>
        </p:txBody>
      </p:sp>
      <p:sp>
        <p:nvSpPr>
          <p:cNvPr id="8" name="Footer Placeholder 7">
            <a:extLst>
              <a:ext uri="{FF2B5EF4-FFF2-40B4-BE49-F238E27FC236}">
                <a16:creationId xmlns:a16="http://schemas.microsoft.com/office/drawing/2014/main" id="{232BF547-1072-C670-FD73-07288B08508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BF11360-7652-D58F-C9B3-F4A7C208E3BA}"/>
              </a:ext>
            </a:extLst>
          </p:cNvPr>
          <p:cNvSpPr>
            <a:spLocks noGrp="1"/>
          </p:cNvSpPr>
          <p:nvPr>
            <p:ph type="sldNum" sz="quarter" idx="12"/>
          </p:nvPr>
        </p:nvSpPr>
        <p:spPr/>
        <p:txBody>
          <a:bodyPr/>
          <a:lstStyle/>
          <a:p>
            <a:fld id="{F92E8C9D-8853-7742-AE2C-67304AD31A5A}" type="slidenum">
              <a:rPr lang="en-US" smtClean="0"/>
              <a:t>‹#›</a:t>
            </a:fld>
            <a:endParaRPr lang="en-US"/>
          </a:p>
        </p:txBody>
      </p:sp>
    </p:spTree>
    <p:extLst>
      <p:ext uri="{BB962C8B-B14F-4D97-AF65-F5344CB8AC3E}">
        <p14:creationId xmlns:p14="http://schemas.microsoft.com/office/powerpoint/2010/main" val="17320330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67B7C-9990-D504-3D01-9A60B387B1C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A2770B7-42D5-0449-CD82-312C3D1DE1BF}"/>
              </a:ext>
            </a:extLst>
          </p:cNvPr>
          <p:cNvSpPr>
            <a:spLocks noGrp="1"/>
          </p:cNvSpPr>
          <p:nvPr>
            <p:ph type="dt" sz="half" idx="10"/>
          </p:nvPr>
        </p:nvSpPr>
        <p:spPr/>
        <p:txBody>
          <a:bodyPr/>
          <a:lstStyle/>
          <a:p>
            <a:fld id="{AD01470F-6625-284D-A1C4-B53CE120BEB0}" type="datetimeFigureOut">
              <a:rPr lang="en-US" smtClean="0"/>
              <a:t>3/8/2026</a:t>
            </a:fld>
            <a:endParaRPr lang="en-US"/>
          </a:p>
        </p:txBody>
      </p:sp>
      <p:sp>
        <p:nvSpPr>
          <p:cNvPr id="4" name="Footer Placeholder 3">
            <a:extLst>
              <a:ext uri="{FF2B5EF4-FFF2-40B4-BE49-F238E27FC236}">
                <a16:creationId xmlns:a16="http://schemas.microsoft.com/office/drawing/2014/main" id="{D6D9F8D1-685B-F9E9-BD46-931045B724B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08E9CC0-8468-9759-0CCD-85B6FC99C609}"/>
              </a:ext>
            </a:extLst>
          </p:cNvPr>
          <p:cNvSpPr>
            <a:spLocks noGrp="1"/>
          </p:cNvSpPr>
          <p:nvPr>
            <p:ph type="sldNum" sz="quarter" idx="12"/>
          </p:nvPr>
        </p:nvSpPr>
        <p:spPr/>
        <p:txBody>
          <a:bodyPr/>
          <a:lstStyle/>
          <a:p>
            <a:fld id="{F92E8C9D-8853-7742-AE2C-67304AD31A5A}" type="slidenum">
              <a:rPr lang="en-US" smtClean="0"/>
              <a:t>‹#›</a:t>
            </a:fld>
            <a:endParaRPr lang="en-US"/>
          </a:p>
        </p:txBody>
      </p:sp>
    </p:spTree>
    <p:extLst>
      <p:ext uri="{BB962C8B-B14F-4D97-AF65-F5344CB8AC3E}">
        <p14:creationId xmlns:p14="http://schemas.microsoft.com/office/powerpoint/2010/main" val="1093125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1952C3-77A7-5EF3-0B4D-8C0503933951}"/>
              </a:ext>
            </a:extLst>
          </p:cNvPr>
          <p:cNvSpPr>
            <a:spLocks noGrp="1"/>
          </p:cNvSpPr>
          <p:nvPr>
            <p:ph type="dt" sz="half" idx="10"/>
          </p:nvPr>
        </p:nvSpPr>
        <p:spPr/>
        <p:txBody>
          <a:bodyPr/>
          <a:lstStyle/>
          <a:p>
            <a:fld id="{AD01470F-6625-284D-A1C4-B53CE120BEB0}" type="datetimeFigureOut">
              <a:rPr lang="en-US" smtClean="0"/>
              <a:t>3/8/2026</a:t>
            </a:fld>
            <a:endParaRPr lang="en-US"/>
          </a:p>
        </p:txBody>
      </p:sp>
      <p:sp>
        <p:nvSpPr>
          <p:cNvPr id="3" name="Footer Placeholder 2">
            <a:extLst>
              <a:ext uri="{FF2B5EF4-FFF2-40B4-BE49-F238E27FC236}">
                <a16:creationId xmlns:a16="http://schemas.microsoft.com/office/drawing/2014/main" id="{8198B1C8-BBF0-4A61-2883-54FDFFCD7A7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66243FC-A660-3D62-E7E3-C47FD2A95390}"/>
              </a:ext>
            </a:extLst>
          </p:cNvPr>
          <p:cNvSpPr>
            <a:spLocks noGrp="1"/>
          </p:cNvSpPr>
          <p:nvPr>
            <p:ph type="sldNum" sz="quarter" idx="12"/>
          </p:nvPr>
        </p:nvSpPr>
        <p:spPr/>
        <p:txBody>
          <a:bodyPr/>
          <a:lstStyle/>
          <a:p>
            <a:fld id="{F92E8C9D-8853-7742-AE2C-67304AD31A5A}" type="slidenum">
              <a:rPr lang="en-US" smtClean="0"/>
              <a:t>‹#›</a:t>
            </a:fld>
            <a:endParaRPr lang="en-US"/>
          </a:p>
        </p:txBody>
      </p:sp>
    </p:spTree>
    <p:extLst>
      <p:ext uri="{BB962C8B-B14F-4D97-AF65-F5344CB8AC3E}">
        <p14:creationId xmlns:p14="http://schemas.microsoft.com/office/powerpoint/2010/main" val="4114521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8B583-4488-FFD1-28BA-B6D5AD9205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0ABE463-D5B3-0346-B386-1EC790303A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B820F28-2135-B794-849F-2FBD3BC4A3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562434-6051-739E-2AAA-0AE412BBE23C}"/>
              </a:ext>
            </a:extLst>
          </p:cNvPr>
          <p:cNvSpPr>
            <a:spLocks noGrp="1"/>
          </p:cNvSpPr>
          <p:nvPr>
            <p:ph type="dt" sz="half" idx="10"/>
          </p:nvPr>
        </p:nvSpPr>
        <p:spPr/>
        <p:txBody>
          <a:bodyPr/>
          <a:lstStyle/>
          <a:p>
            <a:fld id="{AD01470F-6625-284D-A1C4-B53CE120BEB0}" type="datetimeFigureOut">
              <a:rPr lang="en-US" smtClean="0"/>
              <a:t>3/8/2026</a:t>
            </a:fld>
            <a:endParaRPr lang="en-US"/>
          </a:p>
        </p:txBody>
      </p:sp>
      <p:sp>
        <p:nvSpPr>
          <p:cNvPr id="6" name="Footer Placeholder 5">
            <a:extLst>
              <a:ext uri="{FF2B5EF4-FFF2-40B4-BE49-F238E27FC236}">
                <a16:creationId xmlns:a16="http://schemas.microsoft.com/office/drawing/2014/main" id="{7B6DE7BD-3D8C-45D7-099A-2EEAABAA43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BD97D2-2003-A207-C6A7-C980AB20C9B7}"/>
              </a:ext>
            </a:extLst>
          </p:cNvPr>
          <p:cNvSpPr>
            <a:spLocks noGrp="1"/>
          </p:cNvSpPr>
          <p:nvPr>
            <p:ph type="sldNum" sz="quarter" idx="12"/>
          </p:nvPr>
        </p:nvSpPr>
        <p:spPr/>
        <p:txBody>
          <a:bodyPr/>
          <a:lstStyle/>
          <a:p>
            <a:fld id="{F92E8C9D-8853-7742-AE2C-67304AD31A5A}" type="slidenum">
              <a:rPr lang="en-US" smtClean="0"/>
              <a:t>‹#›</a:t>
            </a:fld>
            <a:endParaRPr lang="en-US"/>
          </a:p>
        </p:txBody>
      </p:sp>
    </p:spTree>
    <p:extLst>
      <p:ext uri="{BB962C8B-B14F-4D97-AF65-F5344CB8AC3E}">
        <p14:creationId xmlns:p14="http://schemas.microsoft.com/office/powerpoint/2010/main" val="13834937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ED79D-F6F3-9B50-3982-94317724F2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B943142-BC1E-713E-9326-61E54EB08E9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916DC51-22DA-2E94-7FC7-EF649EBEF7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7638FB-1497-1E12-E1CE-50D4C0C90D3A}"/>
              </a:ext>
            </a:extLst>
          </p:cNvPr>
          <p:cNvSpPr>
            <a:spLocks noGrp="1"/>
          </p:cNvSpPr>
          <p:nvPr>
            <p:ph type="dt" sz="half" idx="10"/>
          </p:nvPr>
        </p:nvSpPr>
        <p:spPr/>
        <p:txBody>
          <a:bodyPr/>
          <a:lstStyle/>
          <a:p>
            <a:fld id="{AD01470F-6625-284D-A1C4-B53CE120BEB0}" type="datetimeFigureOut">
              <a:rPr lang="en-US" smtClean="0"/>
              <a:t>3/8/2026</a:t>
            </a:fld>
            <a:endParaRPr lang="en-US"/>
          </a:p>
        </p:txBody>
      </p:sp>
      <p:sp>
        <p:nvSpPr>
          <p:cNvPr id="6" name="Footer Placeholder 5">
            <a:extLst>
              <a:ext uri="{FF2B5EF4-FFF2-40B4-BE49-F238E27FC236}">
                <a16:creationId xmlns:a16="http://schemas.microsoft.com/office/drawing/2014/main" id="{8261FD48-ECCD-A631-0663-C96138994E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9ED747-C662-1648-6484-5809C6CC5722}"/>
              </a:ext>
            </a:extLst>
          </p:cNvPr>
          <p:cNvSpPr>
            <a:spLocks noGrp="1"/>
          </p:cNvSpPr>
          <p:nvPr>
            <p:ph type="sldNum" sz="quarter" idx="12"/>
          </p:nvPr>
        </p:nvSpPr>
        <p:spPr/>
        <p:txBody>
          <a:bodyPr/>
          <a:lstStyle/>
          <a:p>
            <a:fld id="{F92E8C9D-8853-7742-AE2C-67304AD31A5A}" type="slidenum">
              <a:rPr lang="en-US" smtClean="0"/>
              <a:t>‹#›</a:t>
            </a:fld>
            <a:endParaRPr lang="en-US"/>
          </a:p>
        </p:txBody>
      </p:sp>
    </p:spTree>
    <p:extLst>
      <p:ext uri="{BB962C8B-B14F-4D97-AF65-F5344CB8AC3E}">
        <p14:creationId xmlns:p14="http://schemas.microsoft.com/office/powerpoint/2010/main" val="2499179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F5852-4E57-A2FB-1560-F0B6C813D7F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E1CE5EF-1327-01D2-FEE9-6D9B2A253C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7382D5-4105-5A51-59CC-7D479F0CB942}"/>
              </a:ext>
            </a:extLst>
          </p:cNvPr>
          <p:cNvSpPr>
            <a:spLocks noGrp="1"/>
          </p:cNvSpPr>
          <p:nvPr>
            <p:ph type="dt" sz="half" idx="10"/>
          </p:nvPr>
        </p:nvSpPr>
        <p:spPr/>
        <p:txBody>
          <a:bodyPr/>
          <a:lstStyle/>
          <a:p>
            <a:fld id="{AD01470F-6625-284D-A1C4-B53CE120BEB0}" type="datetimeFigureOut">
              <a:rPr lang="en-US" smtClean="0"/>
              <a:t>3/8/2026</a:t>
            </a:fld>
            <a:endParaRPr lang="en-US"/>
          </a:p>
        </p:txBody>
      </p:sp>
      <p:sp>
        <p:nvSpPr>
          <p:cNvPr id="5" name="Footer Placeholder 4">
            <a:extLst>
              <a:ext uri="{FF2B5EF4-FFF2-40B4-BE49-F238E27FC236}">
                <a16:creationId xmlns:a16="http://schemas.microsoft.com/office/drawing/2014/main" id="{3ADCBAD6-1C8E-74C7-D451-2ABB12BD55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7991AC-9A6A-FA18-5123-B31A3F82556A}"/>
              </a:ext>
            </a:extLst>
          </p:cNvPr>
          <p:cNvSpPr>
            <a:spLocks noGrp="1"/>
          </p:cNvSpPr>
          <p:nvPr>
            <p:ph type="sldNum" sz="quarter" idx="12"/>
          </p:nvPr>
        </p:nvSpPr>
        <p:spPr/>
        <p:txBody>
          <a:bodyPr/>
          <a:lstStyle/>
          <a:p>
            <a:fld id="{F92E8C9D-8853-7742-AE2C-67304AD31A5A}" type="slidenum">
              <a:rPr lang="en-US" smtClean="0"/>
              <a:t>‹#›</a:t>
            </a:fld>
            <a:endParaRPr lang="en-US"/>
          </a:p>
        </p:txBody>
      </p:sp>
    </p:spTree>
    <p:extLst>
      <p:ext uri="{BB962C8B-B14F-4D97-AF65-F5344CB8AC3E}">
        <p14:creationId xmlns:p14="http://schemas.microsoft.com/office/powerpoint/2010/main" val="7093040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F850B3-9A85-3772-04F6-1E71515C592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B3DCEC4-B934-B2F6-5A51-5391FEEA22D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8214B4-9DDF-D737-FDF8-AFF80B5A9DB0}"/>
              </a:ext>
            </a:extLst>
          </p:cNvPr>
          <p:cNvSpPr>
            <a:spLocks noGrp="1"/>
          </p:cNvSpPr>
          <p:nvPr>
            <p:ph type="dt" sz="half" idx="10"/>
          </p:nvPr>
        </p:nvSpPr>
        <p:spPr/>
        <p:txBody>
          <a:bodyPr/>
          <a:lstStyle/>
          <a:p>
            <a:fld id="{AD01470F-6625-284D-A1C4-B53CE120BEB0}" type="datetimeFigureOut">
              <a:rPr lang="en-US" smtClean="0"/>
              <a:t>3/8/2026</a:t>
            </a:fld>
            <a:endParaRPr lang="en-US"/>
          </a:p>
        </p:txBody>
      </p:sp>
      <p:sp>
        <p:nvSpPr>
          <p:cNvPr id="5" name="Footer Placeholder 4">
            <a:extLst>
              <a:ext uri="{FF2B5EF4-FFF2-40B4-BE49-F238E27FC236}">
                <a16:creationId xmlns:a16="http://schemas.microsoft.com/office/drawing/2014/main" id="{376C07C7-33AC-A1A2-F377-0B998727F7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26699E-40DF-BEF3-D012-D1B2606299CC}"/>
              </a:ext>
            </a:extLst>
          </p:cNvPr>
          <p:cNvSpPr>
            <a:spLocks noGrp="1"/>
          </p:cNvSpPr>
          <p:nvPr>
            <p:ph type="sldNum" sz="quarter" idx="12"/>
          </p:nvPr>
        </p:nvSpPr>
        <p:spPr/>
        <p:txBody>
          <a:bodyPr/>
          <a:lstStyle/>
          <a:p>
            <a:fld id="{F92E8C9D-8853-7742-AE2C-67304AD31A5A}" type="slidenum">
              <a:rPr lang="en-US" smtClean="0"/>
              <a:t>‹#›</a:t>
            </a:fld>
            <a:endParaRPr lang="en-US"/>
          </a:p>
        </p:txBody>
      </p:sp>
    </p:spTree>
    <p:extLst>
      <p:ext uri="{BB962C8B-B14F-4D97-AF65-F5344CB8AC3E}">
        <p14:creationId xmlns:p14="http://schemas.microsoft.com/office/powerpoint/2010/main" val="31813578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1104F3-5922-BD75-6753-2BD18FF9A5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61AB151-EAB6-D5D0-5DA3-C914128F35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7C8DFA-1DBD-B076-3A6C-E385EAAD2F6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01470F-6625-284D-A1C4-B53CE120BEB0}" type="datetimeFigureOut">
              <a:rPr lang="en-US" smtClean="0"/>
              <a:t>3/8/2026</a:t>
            </a:fld>
            <a:endParaRPr lang="en-US"/>
          </a:p>
        </p:txBody>
      </p:sp>
      <p:sp>
        <p:nvSpPr>
          <p:cNvPr id="5" name="Footer Placeholder 4">
            <a:extLst>
              <a:ext uri="{FF2B5EF4-FFF2-40B4-BE49-F238E27FC236}">
                <a16:creationId xmlns:a16="http://schemas.microsoft.com/office/drawing/2014/main" id="{1944AC27-E74C-D662-9386-85593F68BC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8EA3BFB-6A8A-78FF-FC18-CA13FD254E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2E8C9D-8853-7742-AE2C-67304AD31A5A}" type="slidenum">
              <a:rPr lang="en-US" smtClean="0"/>
              <a:t>‹#›</a:t>
            </a:fld>
            <a:endParaRPr lang="en-US"/>
          </a:p>
        </p:txBody>
      </p:sp>
    </p:spTree>
    <p:extLst>
      <p:ext uri="{BB962C8B-B14F-4D97-AF65-F5344CB8AC3E}">
        <p14:creationId xmlns:p14="http://schemas.microsoft.com/office/powerpoint/2010/main" val="14831748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4E1BEB12-92AF-4445-98AD-4C7756E7C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0522C2C-7B5C-48A7-A969-03941E5D2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Freeform 13">
            <a:extLst>
              <a:ext uri="{FF2B5EF4-FFF2-40B4-BE49-F238E27FC236}">
                <a16:creationId xmlns:a16="http://schemas.microsoft.com/office/drawing/2014/main" id="{9C682A1A-5B2D-4111-BBD6-62016563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69476" y="220196"/>
            <a:ext cx="9422524" cy="6637806"/>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0" name="Oval 19">
            <a:extLst>
              <a:ext uri="{FF2B5EF4-FFF2-40B4-BE49-F238E27FC236}">
                <a16:creationId xmlns:a16="http://schemas.microsoft.com/office/drawing/2014/main" id="{D6EE29F2-D77F-4BD0-A20B-334D316A1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09800" y="2099696"/>
            <a:ext cx="1942241" cy="188955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6" name="Arc 15">
            <a:extLst>
              <a:ext uri="{FF2B5EF4-FFF2-40B4-BE49-F238E27FC236}">
                <a16:creationId xmlns:a16="http://schemas.microsoft.com/office/drawing/2014/main" id="{22D09ED2-868F-42C6-866E-F92E0CEF3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520172">
            <a:off x="1613162" y="1492572"/>
            <a:ext cx="2987899" cy="2987899"/>
          </a:xfrm>
          <a:prstGeom prst="arc">
            <a:avLst>
              <a:gd name="adj1" fmla="val 14455503"/>
              <a:gd name="adj2" fmla="val 227775"/>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FEE27A1-2AE3-ABB7-192A-C546978D8CD3}"/>
              </a:ext>
            </a:extLst>
          </p:cNvPr>
          <p:cNvSpPr>
            <a:spLocks noGrp="1"/>
          </p:cNvSpPr>
          <p:nvPr>
            <p:ph type="ctrTitle"/>
          </p:nvPr>
        </p:nvSpPr>
        <p:spPr>
          <a:xfrm>
            <a:off x="4038600" y="1939159"/>
            <a:ext cx="7644627" cy="2751086"/>
          </a:xfrm>
        </p:spPr>
        <p:txBody>
          <a:bodyPr>
            <a:normAutofit/>
          </a:bodyPr>
          <a:lstStyle/>
          <a:p>
            <a:pPr algn="r"/>
            <a:r>
              <a:rPr lang="en-US" sz="5600"/>
              <a:t>What matters for central bankers and what matters for the financial market? </a:t>
            </a:r>
          </a:p>
        </p:txBody>
      </p:sp>
      <p:sp>
        <p:nvSpPr>
          <p:cNvPr id="3" name="Subtitle 2">
            <a:extLst>
              <a:ext uri="{FF2B5EF4-FFF2-40B4-BE49-F238E27FC236}">
                <a16:creationId xmlns:a16="http://schemas.microsoft.com/office/drawing/2014/main" id="{E8B138CB-E3D5-2E5C-A89F-557B3A45478C}"/>
              </a:ext>
            </a:extLst>
          </p:cNvPr>
          <p:cNvSpPr>
            <a:spLocks noGrp="1"/>
          </p:cNvSpPr>
          <p:nvPr>
            <p:ph type="subTitle" idx="1"/>
          </p:nvPr>
        </p:nvSpPr>
        <p:spPr>
          <a:xfrm>
            <a:off x="4038600" y="4782320"/>
            <a:ext cx="7644627" cy="1329443"/>
          </a:xfrm>
        </p:spPr>
        <p:txBody>
          <a:bodyPr>
            <a:normAutofit/>
          </a:bodyPr>
          <a:lstStyle/>
          <a:p>
            <a:pPr algn="r"/>
            <a:r>
              <a:rPr lang="en-US"/>
              <a:t>Preliminary results of a Latent Dirichlet Allocation analysis of ECB speeches and data analysis of European countries. </a:t>
            </a:r>
          </a:p>
        </p:txBody>
      </p:sp>
    </p:spTree>
    <p:extLst>
      <p:ext uri="{BB962C8B-B14F-4D97-AF65-F5344CB8AC3E}">
        <p14:creationId xmlns:p14="http://schemas.microsoft.com/office/powerpoint/2010/main" val="7634262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6C5676D-4F94-405F-4299-4B55CF229BA1}"/>
              </a:ext>
            </a:extLst>
          </p:cNvPr>
          <p:cNvSpPr>
            <a:spLocks noGrp="1"/>
          </p:cNvSpPr>
          <p:nvPr>
            <p:ph type="title"/>
          </p:nvPr>
        </p:nvSpPr>
        <p:spPr>
          <a:xfrm>
            <a:off x="621792" y="1161288"/>
            <a:ext cx="3602736" cy="4526280"/>
          </a:xfrm>
        </p:spPr>
        <p:txBody>
          <a:bodyPr>
            <a:normAutofit/>
          </a:bodyPr>
          <a:lstStyle/>
          <a:p>
            <a:r>
              <a:rPr lang="en-US" sz="4000"/>
              <a:t>What matters for central bankers and what matters for the financial market? </a:t>
            </a:r>
            <a:endParaRPr lang="de-DE" sz="4000"/>
          </a:p>
        </p:txBody>
      </p:sp>
      <p:sp>
        <p:nvSpPr>
          <p:cNvPr id="16" name="Rectangle 15">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6" name="Rectangle 1">
            <a:extLst>
              <a:ext uri="{FF2B5EF4-FFF2-40B4-BE49-F238E27FC236}">
                <a16:creationId xmlns:a16="http://schemas.microsoft.com/office/drawing/2014/main" id="{C0CB8748-DF85-150B-1B3B-E4608E5A0842}"/>
              </a:ext>
            </a:extLst>
          </p:cNvPr>
          <p:cNvGraphicFramePr>
            <a:graphicFrameLocks noGrp="1"/>
          </p:cNvGraphicFramePr>
          <p:nvPr>
            <p:ph idx="1"/>
            <p:extLst>
              <p:ext uri="{D42A27DB-BD31-4B8C-83A1-F6EECF244321}">
                <p14:modId xmlns:p14="http://schemas.microsoft.com/office/powerpoint/2010/main" val="619159838"/>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368661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385E1BDC-A9B0-4A87-82E3-F3187F69A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Rectangle 17">
            <a:extLst>
              <a:ext uri="{FF2B5EF4-FFF2-40B4-BE49-F238E27FC236}">
                <a16:creationId xmlns:a16="http://schemas.microsoft.com/office/drawing/2014/main" id="{0990C621-3B8B-4820-8328-D47EF7CE8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CD15A46-6969-0ABC-F423-8E24AEF6330D}"/>
              </a:ext>
            </a:extLst>
          </p:cNvPr>
          <p:cNvSpPr>
            <a:spLocks noGrp="1"/>
          </p:cNvSpPr>
          <p:nvPr>
            <p:ph type="title"/>
          </p:nvPr>
        </p:nvSpPr>
        <p:spPr>
          <a:xfrm>
            <a:off x="1051560" y="586822"/>
            <a:ext cx="3657600" cy="1645920"/>
          </a:xfrm>
        </p:spPr>
        <p:txBody>
          <a:bodyPr>
            <a:normAutofit/>
          </a:bodyPr>
          <a:lstStyle/>
          <a:p>
            <a:r>
              <a:rPr lang="en-US" sz="3200" dirty="0"/>
              <a:t>Observations and Average GDP Growth</a:t>
            </a:r>
          </a:p>
        </p:txBody>
      </p:sp>
      <p:sp>
        <p:nvSpPr>
          <p:cNvPr id="20" name="Rectangle 19">
            <a:extLst>
              <a:ext uri="{FF2B5EF4-FFF2-40B4-BE49-F238E27FC236}">
                <a16:creationId xmlns:a16="http://schemas.microsoft.com/office/drawing/2014/main" id="{C1A2385B-1D2A-4E17-84FA-6CB7F0AAE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22" name="Rectangle 21">
            <a:extLst>
              <a:ext uri="{FF2B5EF4-FFF2-40B4-BE49-F238E27FC236}">
                <a16:creationId xmlns:a16="http://schemas.microsoft.com/office/drawing/2014/main" id="{5E791F2F-79DB-4CC0-9FA1-001E3E91E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prstClr val="white"/>
              </a:solidFill>
              <a:effectLst/>
              <a:uLnTx/>
              <a:uFillTx/>
              <a:latin typeface="Calibri" panose="020F0502020204030204"/>
              <a:ea typeface="+mn-ea"/>
              <a:cs typeface="+mn-cs"/>
            </a:endParaRPr>
          </a:p>
        </p:txBody>
      </p:sp>
      <p:sp>
        <p:nvSpPr>
          <p:cNvPr id="13" name="Content Placeholder 12">
            <a:extLst>
              <a:ext uri="{FF2B5EF4-FFF2-40B4-BE49-F238E27FC236}">
                <a16:creationId xmlns:a16="http://schemas.microsoft.com/office/drawing/2014/main" id="{E488AE85-6388-D7E1-42B7-44C967E5A657}"/>
              </a:ext>
            </a:extLst>
          </p:cNvPr>
          <p:cNvSpPr>
            <a:spLocks noGrp="1"/>
          </p:cNvSpPr>
          <p:nvPr>
            <p:ph idx="1"/>
          </p:nvPr>
        </p:nvSpPr>
        <p:spPr>
          <a:xfrm>
            <a:off x="5250106" y="586822"/>
            <a:ext cx="6106742" cy="1645920"/>
          </a:xfrm>
        </p:spPr>
        <p:txBody>
          <a:bodyPr anchor="ctr">
            <a:normAutofit fontScale="85000" lnSpcReduction="20000"/>
          </a:bodyPr>
          <a:lstStyle/>
          <a:p>
            <a:r>
              <a:rPr lang="en-US" sz="1800" dirty="0"/>
              <a:t>Our analysis focused on 11 countries in the EU: Portugal, Lithuania, Italy, France, Finland, Spain, Germany, Austria, Ireland, Greece, Belgium, and the Netherlands. </a:t>
            </a:r>
          </a:p>
          <a:p>
            <a:r>
              <a:rPr lang="en-US" sz="1800" dirty="0"/>
              <a:t>Most countries (7) had 800 observations in the dataset, whereas the others had 784 (Ireland and Greece), 776 (Belgium), and 774 (the Netherlands). </a:t>
            </a:r>
          </a:p>
          <a:p>
            <a:r>
              <a:rPr lang="en-US" sz="1800" dirty="0"/>
              <a:t>Our analysis also shows the average GDP. Almost all countries' GDP growth is below 1, except Ireland’s, whose GDP growth is 1.24.</a:t>
            </a:r>
          </a:p>
        </p:txBody>
      </p:sp>
      <p:pic>
        <p:nvPicPr>
          <p:cNvPr id="9" name="Picture 8" descr="A table with numbers and letters&#10;&#10;Description automatically generated">
            <a:extLst>
              <a:ext uri="{FF2B5EF4-FFF2-40B4-BE49-F238E27FC236}">
                <a16:creationId xmlns:a16="http://schemas.microsoft.com/office/drawing/2014/main" id="{D43A9296-7B62-2CC7-5748-C61170601054}"/>
              </a:ext>
            </a:extLst>
          </p:cNvPr>
          <p:cNvPicPr>
            <a:picLocks noChangeAspect="1"/>
          </p:cNvPicPr>
          <p:nvPr/>
        </p:nvPicPr>
        <p:blipFill>
          <a:blip r:embed="rId2"/>
          <a:stretch>
            <a:fillRect/>
          </a:stretch>
        </p:blipFill>
        <p:spPr>
          <a:xfrm>
            <a:off x="1255216" y="2729397"/>
            <a:ext cx="4086642" cy="3483864"/>
          </a:xfrm>
          <a:prstGeom prst="rect">
            <a:avLst/>
          </a:prstGeom>
        </p:spPr>
      </p:pic>
      <p:pic>
        <p:nvPicPr>
          <p:cNvPr id="5" name="Content Placeholder 4" descr="A table with numbers and letters&#10;&#10;Description automatically generated">
            <a:extLst>
              <a:ext uri="{FF2B5EF4-FFF2-40B4-BE49-F238E27FC236}">
                <a16:creationId xmlns:a16="http://schemas.microsoft.com/office/drawing/2014/main" id="{0FDA6F97-7E6F-91A1-73FE-2FDD46ACD99C}"/>
              </a:ext>
            </a:extLst>
          </p:cNvPr>
          <p:cNvPicPr>
            <a:picLocks noChangeAspect="1"/>
          </p:cNvPicPr>
          <p:nvPr/>
        </p:nvPicPr>
        <p:blipFill>
          <a:blip r:embed="rId3"/>
          <a:stretch>
            <a:fillRect/>
          </a:stretch>
        </p:blipFill>
        <p:spPr>
          <a:xfrm>
            <a:off x="6917001" y="2729397"/>
            <a:ext cx="4086642" cy="3483864"/>
          </a:xfrm>
          <a:prstGeom prst="rect">
            <a:avLst/>
          </a:prstGeom>
        </p:spPr>
      </p:pic>
    </p:spTree>
    <p:extLst>
      <p:ext uri="{BB962C8B-B14F-4D97-AF65-F5344CB8AC3E}">
        <p14:creationId xmlns:p14="http://schemas.microsoft.com/office/powerpoint/2010/main" val="2079619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0550F5B9-399F-4FAD-AE6C-ED65F9A43A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Rectangle 17">
            <a:extLst>
              <a:ext uri="{FF2B5EF4-FFF2-40B4-BE49-F238E27FC236}">
                <a16:creationId xmlns:a16="http://schemas.microsoft.com/office/drawing/2014/main" id="{C062E60F-5CD4-4268-8359-8076634680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288350"/>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2CDFB00-1E58-E7A2-E524-B4AF12EB11F7}"/>
              </a:ext>
            </a:extLst>
          </p:cNvPr>
          <p:cNvSpPr>
            <a:spLocks noGrp="1"/>
          </p:cNvSpPr>
          <p:nvPr>
            <p:ph type="title"/>
          </p:nvPr>
        </p:nvSpPr>
        <p:spPr>
          <a:xfrm>
            <a:off x="841248" y="510047"/>
            <a:ext cx="3300984" cy="1645920"/>
          </a:xfrm>
        </p:spPr>
        <p:txBody>
          <a:bodyPr>
            <a:normAutofit/>
          </a:bodyPr>
          <a:lstStyle/>
          <a:p>
            <a:r>
              <a:rPr lang="en-US" sz="2800" dirty="0"/>
              <a:t>Average Spread in the Data</a:t>
            </a:r>
          </a:p>
        </p:txBody>
      </p:sp>
      <p:sp>
        <p:nvSpPr>
          <p:cNvPr id="20" name="Rectangle 19">
            <a:extLst>
              <a:ext uri="{FF2B5EF4-FFF2-40B4-BE49-F238E27FC236}">
                <a16:creationId xmlns:a16="http://schemas.microsoft.com/office/drawing/2014/main" id="{BB341EC3-1810-4D33-BA3F-E2D0AA0EC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980964"/>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dirty="0">
              <a:ln>
                <a:noFill/>
              </a:ln>
              <a:solidFill>
                <a:prstClr val="white"/>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10127CDE-2B99-47A8-BB3C-7D17519105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610864" y="1323863"/>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prstClr val="white"/>
              </a:solidFill>
              <a:effectLst/>
              <a:uLnTx/>
              <a:uFillTx/>
              <a:latin typeface="Calibri" panose="020F0502020204030204"/>
              <a:ea typeface="+mn-ea"/>
              <a:cs typeface="+mn-cs"/>
            </a:endParaRPr>
          </a:p>
        </p:txBody>
      </p:sp>
      <p:sp>
        <p:nvSpPr>
          <p:cNvPr id="13" name="Content Placeholder 12">
            <a:extLst>
              <a:ext uri="{FF2B5EF4-FFF2-40B4-BE49-F238E27FC236}">
                <a16:creationId xmlns:a16="http://schemas.microsoft.com/office/drawing/2014/main" id="{5C0D3572-9D5E-5F86-3A42-B9BC1D4CB9D4}"/>
              </a:ext>
            </a:extLst>
          </p:cNvPr>
          <p:cNvSpPr>
            <a:spLocks noGrp="1"/>
          </p:cNvSpPr>
          <p:nvPr>
            <p:ph idx="1"/>
          </p:nvPr>
        </p:nvSpPr>
        <p:spPr>
          <a:xfrm>
            <a:off x="4581144" y="510047"/>
            <a:ext cx="6858000" cy="1645920"/>
          </a:xfrm>
        </p:spPr>
        <p:txBody>
          <a:bodyPr anchor="ctr">
            <a:normAutofit fontScale="85000" lnSpcReduction="10000"/>
          </a:bodyPr>
          <a:lstStyle/>
          <a:p>
            <a:r>
              <a:rPr lang="en-US" sz="1800" dirty="0"/>
              <a:t>Our analysis focused on the average spread. The country with the highest average spread was Greece (around 3.92), whereas the country with the lowest spread was Germany (0). Both the highest and lowest spread countries are significantly different from the other countries, whose spread is around 0.5-1.7. </a:t>
            </a:r>
          </a:p>
          <a:p>
            <a:r>
              <a:rPr lang="en-US" sz="1800" dirty="0"/>
              <a:t>Our analysis also shows the countries whose average spread is above the overall average spread in the dataset. Namely, these countries are Spain, Greece, Ireland, Italy, and Portugal.</a:t>
            </a:r>
          </a:p>
        </p:txBody>
      </p:sp>
      <p:pic>
        <p:nvPicPr>
          <p:cNvPr id="7" name="Picture 6" descr="A table with numbers and symbols&#10;&#10;Description automatically generated">
            <a:extLst>
              <a:ext uri="{FF2B5EF4-FFF2-40B4-BE49-F238E27FC236}">
                <a16:creationId xmlns:a16="http://schemas.microsoft.com/office/drawing/2014/main" id="{9E7492B5-772F-E332-9915-2D8EC2AAC392}"/>
              </a:ext>
            </a:extLst>
          </p:cNvPr>
          <p:cNvPicPr>
            <a:picLocks noChangeAspect="1"/>
          </p:cNvPicPr>
          <p:nvPr/>
        </p:nvPicPr>
        <p:blipFill>
          <a:blip r:embed="rId2"/>
          <a:stretch>
            <a:fillRect/>
          </a:stretch>
        </p:blipFill>
        <p:spPr>
          <a:xfrm>
            <a:off x="1218559" y="2805000"/>
            <a:ext cx="3584448" cy="3055742"/>
          </a:xfrm>
          <a:prstGeom prst="rect">
            <a:avLst/>
          </a:prstGeom>
        </p:spPr>
      </p:pic>
      <p:pic>
        <p:nvPicPr>
          <p:cNvPr id="9" name="Picture 8" descr="A table with text on it&#10;&#10;Description automatically generated">
            <a:extLst>
              <a:ext uri="{FF2B5EF4-FFF2-40B4-BE49-F238E27FC236}">
                <a16:creationId xmlns:a16="http://schemas.microsoft.com/office/drawing/2014/main" id="{B1E32CD7-3816-1B5A-BA94-05DE5B32F3B1}"/>
              </a:ext>
            </a:extLst>
          </p:cNvPr>
          <p:cNvPicPr>
            <a:picLocks noChangeAspect="1"/>
          </p:cNvPicPr>
          <p:nvPr/>
        </p:nvPicPr>
        <p:blipFill>
          <a:blip r:embed="rId3"/>
          <a:stretch>
            <a:fillRect/>
          </a:stretch>
        </p:blipFill>
        <p:spPr>
          <a:xfrm>
            <a:off x="5629840" y="3176337"/>
            <a:ext cx="5456181" cy="2346158"/>
          </a:xfrm>
          <a:prstGeom prst="rect">
            <a:avLst/>
          </a:prstGeom>
        </p:spPr>
      </p:pic>
    </p:spTree>
    <p:extLst>
      <p:ext uri="{BB962C8B-B14F-4D97-AF65-F5344CB8AC3E}">
        <p14:creationId xmlns:p14="http://schemas.microsoft.com/office/powerpoint/2010/main" val="35695681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6">
            <a:extLst>
              <a:ext uri="{FF2B5EF4-FFF2-40B4-BE49-F238E27FC236}">
                <a16:creationId xmlns:a16="http://schemas.microsoft.com/office/drawing/2014/main" id="{385E1BDC-A9B0-4A87-82E3-F3187F69A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9" name="Rectangle 28">
            <a:extLst>
              <a:ext uri="{FF2B5EF4-FFF2-40B4-BE49-F238E27FC236}">
                <a16:creationId xmlns:a16="http://schemas.microsoft.com/office/drawing/2014/main" id="{0990C621-3B8B-4820-8328-D47EF7CE8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2117343-D819-6677-FCBC-1185564ABE5B}"/>
              </a:ext>
            </a:extLst>
          </p:cNvPr>
          <p:cNvSpPr>
            <a:spLocks noGrp="1"/>
          </p:cNvSpPr>
          <p:nvPr>
            <p:ph type="title"/>
          </p:nvPr>
        </p:nvSpPr>
        <p:spPr>
          <a:xfrm>
            <a:off x="1051560" y="586822"/>
            <a:ext cx="3657600" cy="1645920"/>
          </a:xfrm>
        </p:spPr>
        <p:txBody>
          <a:bodyPr>
            <a:normAutofit/>
          </a:bodyPr>
          <a:lstStyle/>
          <a:p>
            <a:r>
              <a:rPr lang="en-US" sz="3200" dirty="0"/>
              <a:t>Debt, GDP, and Spread</a:t>
            </a:r>
          </a:p>
        </p:txBody>
      </p:sp>
      <p:sp>
        <p:nvSpPr>
          <p:cNvPr id="31" name="Rectangle 30">
            <a:extLst>
              <a:ext uri="{FF2B5EF4-FFF2-40B4-BE49-F238E27FC236}">
                <a16:creationId xmlns:a16="http://schemas.microsoft.com/office/drawing/2014/main" id="{C1A2385B-1D2A-4E17-84FA-6CB7F0AAE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33" name="Rectangle 32">
            <a:extLst>
              <a:ext uri="{FF2B5EF4-FFF2-40B4-BE49-F238E27FC236}">
                <a16:creationId xmlns:a16="http://schemas.microsoft.com/office/drawing/2014/main" id="{5E791F2F-79DB-4CC0-9FA1-001E3E91E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prstClr val="white"/>
              </a:solidFill>
              <a:effectLst/>
              <a:uLnTx/>
              <a:uFillTx/>
              <a:latin typeface="Calibri" panose="020F0502020204030204"/>
              <a:ea typeface="+mn-ea"/>
              <a:cs typeface="+mn-cs"/>
            </a:endParaRPr>
          </a:p>
        </p:txBody>
      </p:sp>
      <p:sp>
        <p:nvSpPr>
          <p:cNvPr id="13" name="Content Placeholder 12">
            <a:extLst>
              <a:ext uri="{FF2B5EF4-FFF2-40B4-BE49-F238E27FC236}">
                <a16:creationId xmlns:a16="http://schemas.microsoft.com/office/drawing/2014/main" id="{3EEAF7BE-C4B3-F494-67DA-7C194209F5DE}"/>
              </a:ext>
            </a:extLst>
          </p:cNvPr>
          <p:cNvSpPr>
            <a:spLocks noGrp="1"/>
          </p:cNvSpPr>
          <p:nvPr>
            <p:ph idx="1"/>
          </p:nvPr>
        </p:nvSpPr>
        <p:spPr>
          <a:xfrm>
            <a:off x="5250106" y="586822"/>
            <a:ext cx="6106742" cy="1645920"/>
          </a:xfrm>
        </p:spPr>
        <p:txBody>
          <a:bodyPr anchor="ctr">
            <a:normAutofit lnSpcReduction="10000"/>
          </a:bodyPr>
          <a:lstStyle/>
          <a:p>
            <a:r>
              <a:rPr lang="en-US" sz="1800" dirty="0"/>
              <a:t>The country with the lowest debt-to-GDP ratio was Austria in 2021 Q1 (87). On the other hand, the country with the highest debt-to-GDP ratio was Portugal in 2011 Q1 (101.1). </a:t>
            </a:r>
          </a:p>
          <a:p>
            <a:r>
              <a:rPr lang="en-US" sz="1800" dirty="0"/>
              <a:t>The country with the highest spread was Austria in 2012 Q1 (1.2), whereas the country with the lowest spread was Portugal (-0.002) in 2005 Q1. </a:t>
            </a:r>
          </a:p>
        </p:txBody>
      </p:sp>
      <p:pic>
        <p:nvPicPr>
          <p:cNvPr id="9" name="Picture 8" descr="A table with numbers and letters&#10;&#10;Description automatically generated">
            <a:extLst>
              <a:ext uri="{FF2B5EF4-FFF2-40B4-BE49-F238E27FC236}">
                <a16:creationId xmlns:a16="http://schemas.microsoft.com/office/drawing/2014/main" id="{0681DEC5-392D-2C60-B00F-ED8C408616E8}"/>
              </a:ext>
            </a:extLst>
          </p:cNvPr>
          <p:cNvPicPr>
            <a:picLocks noChangeAspect="1"/>
          </p:cNvPicPr>
          <p:nvPr/>
        </p:nvPicPr>
        <p:blipFill>
          <a:blip r:embed="rId2"/>
          <a:stretch>
            <a:fillRect/>
          </a:stretch>
        </p:blipFill>
        <p:spPr>
          <a:xfrm>
            <a:off x="490408" y="2676139"/>
            <a:ext cx="5449175" cy="3473853"/>
          </a:xfrm>
          <a:prstGeom prst="rect">
            <a:avLst/>
          </a:prstGeom>
        </p:spPr>
      </p:pic>
      <p:pic>
        <p:nvPicPr>
          <p:cNvPr id="7" name="Picture 6" descr="A table with numbers and letters&#10;&#10;Description automatically generated">
            <a:extLst>
              <a:ext uri="{FF2B5EF4-FFF2-40B4-BE49-F238E27FC236}">
                <a16:creationId xmlns:a16="http://schemas.microsoft.com/office/drawing/2014/main" id="{FFAF9A30-2761-B2F2-4027-A4DFD6CD211C}"/>
              </a:ext>
            </a:extLst>
          </p:cNvPr>
          <p:cNvPicPr>
            <a:picLocks noChangeAspect="1"/>
          </p:cNvPicPr>
          <p:nvPr/>
        </p:nvPicPr>
        <p:blipFill>
          <a:blip r:embed="rId3"/>
          <a:stretch>
            <a:fillRect/>
          </a:stretch>
        </p:blipFill>
        <p:spPr>
          <a:xfrm>
            <a:off x="5970296" y="2676139"/>
            <a:ext cx="5449175" cy="3473852"/>
          </a:xfrm>
          <a:prstGeom prst="rect">
            <a:avLst/>
          </a:prstGeom>
        </p:spPr>
      </p:pic>
    </p:spTree>
    <p:extLst>
      <p:ext uri="{BB962C8B-B14F-4D97-AF65-F5344CB8AC3E}">
        <p14:creationId xmlns:p14="http://schemas.microsoft.com/office/powerpoint/2010/main" val="42715975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88263A24-0C1F-4677-B43C-4AE14E276B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4" name="Rectangle 23">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326D4D2-43AD-EB40-4AFB-71F25E2BE92F}"/>
              </a:ext>
            </a:extLst>
          </p:cNvPr>
          <p:cNvSpPr>
            <a:spLocks noGrp="1"/>
          </p:cNvSpPr>
          <p:nvPr>
            <p:ph type="title"/>
          </p:nvPr>
        </p:nvSpPr>
        <p:spPr>
          <a:xfrm>
            <a:off x="868680" y="405575"/>
            <a:ext cx="5001768" cy="1371600"/>
          </a:xfrm>
        </p:spPr>
        <p:txBody>
          <a:bodyPr vert="horz" lIns="91440" tIns="45720" rIns="91440" bIns="45720" rtlCol="0" anchor="ctr">
            <a:normAutofit/>
          </a:bodyPr>
          <a:lstStyle/>
          <a:p>
            <a:r>
              <a:rPr lang="en-US" sz="3600" dirty="0"/>
              <a:t>First results I </a:t>
            </a:r>
          </a:p>
        </p:txBody>
      </p:sp>
      <p:sp>
        <p:nvSpPr>
          <p:cNvPr id="26" name="Rectangle 25">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86984" y="1071836"/>
            <a:ext cx="1021458"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3" name="Picture 12">
            <a:extLst>
              <a:ext uri="{FF2B5EF4-FFF2-40B4-BE49-F238E27FC236}">
                <a16:creationId xmlns:a16="http://schemas.microsoft.com/office/drawing/2014/main" id="{E8FE7179-991F-75B7-0764-E16924AD0709}"/>
              </a:ext>
            </a:extLst>
          </p:cNvPr>
          <p:cNvPicPr>
            <a:picLocks noChangeAspect="1"/>
          </p:cNvPicPr>
          <p:nvPr/>
        </p:nvPicPr>
        <p:blipFill>
          <a:blip r:embed="rId2"/>
          <a:stretch>
            <a:fillRect/>
          </a:stretch>
        </p:blipFill>
        <p:spPr>
          <a:xfrm>
            <a:off x="707841" y="2091095"/>
            <a:ext cx="5113970" cy="4206240"/>
          </a:xfrm>
          <a:prstGeom prst="rect">
            <a:avLst/>
          </a:prstGeom>
        </p:spPr>
      </p:pic>
      <p:pic>
        <p:nvPicPr>
          <p:cNvPr id="17" name="Picture 16">
            <a:extLst>
              <a:ext uri="{FF2B5EF4-FFF2-40B4-BE49-F238E27FC236}">
                <a16:creationId xmlns:a16="http://schemas.microsoft.com/office/drawing/2014/main" id="{0BD36630-BBFC-B768-89C8-4F116C5D3620}"/>
              </a:ext>
            </a:extLst>
          </p:cNvPr>
          <p:cNvPicPr>
            <a:picLocks noChangeAspect="1"/>
          </p:cNvPicPr>
          <p:nvPr/>
        </p:nvPicPr>
        <p:blipFill>
          <a:blip r:embed="rId3"/>
          <a:stretch>
            <a:fillRect/>
          </a:stretch>
        </p:blipFill>
        <p:spPr>
          <a:xfrm>
            <a:off x="6314604" y="2086081"/>
            <a:ext cx="5225143" cy="4206240"/>
          </a:xfrm>
          <a:prstGeom prst="rect">
            <a:avLst/>
          </a:prstGeom>
        </p:spPr>
      </p:pic>
    </p:spTree>
    <p:extLst>
      <p:ext uri="{BB962C8B-B14F-4D97-AF65-F5344CB8AC3E}">
        <p14:creationId xmlns:p14="http://schemas.microsoft.com/office/powerpoint/2010/main" val="24787149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385E1BDC-A9B0-4A87-82E3-F3187F69A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9">
            <a:extLst>
              <a:ext uri="{FF2B5EF4-FFF2-40B4-BE49-F238E27FC236}">
                <a16:creationId xmlns:a16="http://schemas.microsoft.com/office/drawing/2014/main" id="{0990C621-3B8B-4820-8328-D47EF7CE8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645962-9278-285A-CC2A-CB5CCC49CE25}"/>
              </a:ext>
            </a:extLst>
          </p:cNvPr>
          <p:cNvSpPr>
            <a:spLocks noGrp="1"/>
          </p:cNvSpPr>
          <p:nvPr>
            <p:ph type="title"/>
          </p:nvPr>
        </p:nvSpPr>
        <p:spPr>
          <a:xfrm>
            <a:off x="1051560" y="586822"/>
            <a:ext cx="3657600" cy="1645920"/>
          </a:xfrm>
        </p:spPr>
        <p:txBody>
          <a:bodyPr>
            <a:normAutofit/>
          </a:bodyPr>
          <a:lstStyle/>
          <a:p>
            <a:r>
              <a:rPr lang="en-US" sz="3200" dirty="0"/>
              <a:t>First results II</a:t>
            </a:r>
            <a:endParaRPr lang="de-DE" sz="3200" dirty="0"/>
          </a:p>
        </p:txBody>
      </p:sp>
      <p:sp>
        <p:nvSpPr>
          <p:cNvPr id="22" name="Rectangle 21">
            <a:extLst>
              <a:ext uri="{FF2B5EF4-FFF2-40B4-BE49-F238E27FC236}">
                <a16:creationId xmlns:a16="http://schemas.microsoft.com/office/drawing/2014/main" id="{C1A2385B-1D2A-4E17-84FA-6CB7F0AAE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24" name="Rectangle 23">
            <a:extLst>
              <a:ext uri="{FF2B5EF4-FFF2-40B4-BE49-F238E27FC236}">
                <a16:creationId xmlns:a16="http://schemas.microsoft.com/office/drawing/2014/main" id="{5E791F2F-79DB-4CC0-9FA1-001E3E91E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Content Placeholder 9">
            <a:extLst>
              <a:ext uri="{FF2B5EF4-FFF2-40B4-BE49-F238E27FC236}">
                <a16:creationId xmlns:a16="http://schemas.microsoft.com/office/drawing/2014/main" id="{00D980B9-D5D6-22B8-6F49-480E9EAB7BFB}"/>
              </a:ext>
            </a:extLst>
          </p:cNvPr>
          <p:cNvSpPr>
            <a:spLocks noGrp="1"/>
          </p:cNvSpPr>
          <p:nvPr>
            <p:ph idx="1"/>
          </p:nvPr>
        </p:nvSpPr>
        <p:spPr>
          <a:xfrm>
            <a:off x="5250106" y="586822"/>
            <a:ext cx="6106742" cy="1645920"/>
          </a:xfrm>
        </p:spPr>
        <p:txBody>
          <a:bodyPr anchor="ctr">
            <a:normAutofit lnSpcReduction="10000"/>
          </a:bodyPr>
          <a:lstStyle/>
          <a:p>
            <a:pPr marL="0" indent="0">
              <a:buNone/>
            </a:pPr>
            <a:r>
              <a:rPr lang="en-US" sz="1800" dirty="0"/>
              <a:t>Cluster </a:t>
            </a:r>
            <a:r>
              <a:rPr lang="en-US" sz="1800" b="1" dirty="0"/>
              <a:t>0</a:t>
            </a:r>
            <a:r>
              <a:rPr lang="en-US" sz="1800" dirty="0"/>
              <a:t> exhibits the highest average sovereign spreads and the strongest spike during the sovereign debt crisis, indicating that these countries are perceived by markets as relatively riskier borrowers. In contrast, </a:t>
            </a:r>
            <a:r>
              <a:rPr lang="en-US" sz="1800" b="1" dirty="0"/>
              <a:t>Cluster 2</a:t>
            </a:r>
            <a:r>
              <a:rPr lang="en-US" sz="1800" dirty="0"/>
              <a:t> maintains consistently low spreads over time, while </a:t>
            </a:r>
            <a:r>
              <a:rPr lang="en-US" sz="1800" b="1" dirty="0"/>
              <a:t>Cluster 1</a:t>
            </a:r>
            <a:r>
              <a:rPr lang="en-US" sz="1800" dirty="0"/>
              <a:t> occupies an intermediate position, suggesting moderate risk levels between the high-spread and low-spread country groups.</a:t>
            </a:r>
          </a:p>
        </p:txBody>
      </p:sp>
      <p:pic>
        <p:nvPicPr>
          <p:cNvPr id="6" name="Picture 5">
            <a:extLst>
              <a:ext uri="{FF2B5EF4-FFF2-40B4-BE49-F238E27FC236}">
                <a16:creationId xmlns:a16="http://schemas.microsoft.com/office/drawing/2014/main" id="{56F59AE1-220C-E6B1-BE33-0F00BD63D3A4}"/>
              </a:ext>
            </a:extLst>
          </p:cNvPr>
          <p:cNvPicPr>
            <a:picLocks noChangeAspect="1"/>
          </p:cNvPicPr>
          <p:nvPr/>
        </p:nvPicPr>
        <p:blipFill>
          <a:blip r:embed="rId2"/>
          <a:stretch>
            <a:fillRect/>
          </a:stretch>
        </p:blipFill>
        <p:spPr>
          <a:xfrm>
            <a:off x="1180687" y="2729397"/>
            <a:ext cx="4235701" cy="3483864"/>
          </a:xfrm>
          <a:prstGeom prst="rect">
            <a:avLst/>
          </a:prstGeom>
        </p:spPr>
      </p:pic>
      <p:pic>
        <p:nvPicPr>
          <p:cNvPr id="5" name="Content Placeholder 4">
            <a:extLst>
              <a:ext uri="{FF2B5EF4-FFF2-40B4-BE49-F238E27FC236}">
                <a16:creationId xmlns:a16="http://schemas.microsoft.com/office/drawing/2014/main" id="{85B9AEAB-F242-882D-E755-CD47B9E1FC05}"/>
              </a:ext>
            </a:extLst>
          </p:cNvPr>
          <p:cNvPicPr>
            <a:picLocks noChangeAspect="1"/>
          </p:cNvPicPr>
          <p:nvPr/>
        </p:nvPicPr>
        <p:blipFill>
          <a:blip r:embed="rId3"/>
          <a:stretch>
            <a:fillRect/>
          </a:stretch>
        </p:blipFill>
        <p:spPr>
          <a:xfrm>
            <a:off x="6789690" y="2729397"/>
            <a:ext cx="4341263" cy="3483864"/>
          </a:xfrm>
          <a:prstGeom prst="rect">
            <a:avLst/>
          </a:prstGeom>
        </p:spPr>
      </p:pic>
    </p:spTree>
    <p:extLst>
      <p:ext uri="{BB962C8B-B14F-4D97-AF65-F5344CB8AC3E}">
        <p14:creationId xmlns:p14="http://schemas.microsoft.com/office/powerpoint/2010/main" val="37165166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1D33273-F9BE-9E39-3AC1-2CD624AEAAE1}"/>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385E1BDC-A9B0-4A87-82E3-F3187F69A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0990C621-3B8B-4820-8328-D47EF7CE8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CDBEFB4-0F98-C468-90E1-95065209D076}"/>
              </a:ext>
            </a:extLst>
          </p:cNvPr>
          <p:cNvSpPr>
            <a:spLocks noGrp="1"/>
          </p:cNvSpPr>
          <p:nvPr>
            <p:ph type="title"/>
          </p:nvPr>
        </p:nvSpPr>
        <p:spPr>
          <a:xfrm>
            <a:off x="1051560" y="586822"/>
            <a:ext cx="3657600" cy="1645920"/>
          </a:xfrm>
        </p:spPr>
        <p:txBody>
          <a:bodyPr>
            <a:normAutofit/>
          </a:bodyPr>
          <a:lstStyle/>
          <a:p>
            <a:r>
              <a:rPr lang="de-DE" sz="3200" dirty="0"/>
              <a:t>Central Bankers Topics </a:t>
            </a:r>
          </a:p>
        </p:txBody>
      </p:sp>
      <p:sp>
        <p:nvSpPr>
          <p:cNvPr id="19" name="Rectangle 18">
            <a:extLst>
              <a:ext uri="{FF2B5EF4-FFF2-40B4-BE49-F238E27FC236}">
                <a16:creationId xmlns:a16="http://schemas.microsoft.com/office/drawing/2014/main" id="{C1A2385B-1D2A-4E17-84FA-6CB7F0AAE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21" name="Rectangle 20">
            <a:extLst>
              <a:ext uri="{FF2B5EF4-FFF2-40B4-BE49-F238E27FC236}">
                <a16:creationId xmlns:a16="http://schemas.microsoft.com/office/drawing/2014/main" id="{5E791F2F-79DB-4CC0-9FA1-001E3E91E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Content Placeholder 9">
            <a:extLst>
              <a:ext uri="{FF2B5EF4-FFF2-40B4-BE49-F238E27FC236}">
                <a16:creationId xmlns:a16="http://schemas.microsoft.com/office/drawing/2014/main" id="{FCA88EDE-762C-00DF-19D1-9A329B823CAA}"/>
              </a:ext>
            </a:extLst>
          </p:cNvPr>
          <p:cNvSpPr>
            <a:spLocks noGrp="1"/>
          </p:cNvSpPr>
          <p:nvPr>
            <p:ph idx="1"/>
          </p:nvPr>
        </p:nvSpPr>
        <p:spPr>
          <a:xfrm>
            <a:off x="5250106" y="586822"/>
            <a:ext cx="6106742" cy="1645920"/>
          </a:xfrm>
        </p:spPr>
        <p:txBody>
          <a:bodyPr anchor="ctr">
            <a:normAutofit/>
          </a:bodyPr>
          <a:lstStyle/>
          <a:p>
            <a:pPr marL="0" indent="0">
              <a:buNone/>
            </a:pPr>
            <a:endParaRPr lang="en-US" sz="1500" dirty="0"/>
          </a:p>
        </p:txBody>
      </p:sp>
      <p:pic>
        <p:nvPicPr>
          <p:cNvPr id="3" name="Picture 2">
            <a:extLst>
              <a:ext uri="{FF2B5EF4-FFF2-40B4-BE49-F238E27FC236}">
                <a16:creationId xmlns:a16="http://schemas.microsoft.com/office/drawing/2014/main" id="{ADA03FB0-E0F3-BC49-9DBA-D24D175CD5F0}"/>
              </a:ext>
            </a:extLst>
          </p:cNvPr>
          <p:cNvPicPr>
            <a:picLocks noChangeAspect="1"/>
          </p:cNvPicPr>
          <p:nvPr/>
        </p:nvPicPr>
        <p:blipFill>
          <a:blip r:embed="rId2"/>
          <a:stretch>
            <a:fillRect/>
          </a:stretch>
        </p:blipFill>
        <p:spPr>
          <a:xfrm>
            <a:off x="490408" y="2781624"/>
            <a:ext cx="6338169" cy="3489554"/>
          </a:xfrm>
          <a:prstGeom prst="rect">
            <a:avLst/>
          </a:prstGeom>
        </p:spPr>
      </p:pic>
      <p:graphicFrame>
        <p:nvGraphicFramePr>
          <p:cNvPr id="7" name="Table 6">
            <a:extLst>
              <a:ext uri="{FF2B5EF4-FFF2-40B4-BE49-F238E27FC236}">
                <a16:creationId xmlns:a16="http://schemas.microsoft.com/office/drawing/2014/main" id="{7CAF36DC-1004-085D-ED60-1DB8487CBFC1}"/>
              </a:ext>
            </a:extLst>
          </p:cNvPr>
          <p:cNvGraphicFramePr>
            <a:graphicFrameLocks noGrp="1"/>
          </p:cNvGraphicFramePr>
          <p:nvPr>
            <p:extLst>
              <p:ext uri="{D42A27DB-BD31-4B8C-83A1-F6EECF244321}">
                <p14:modId xmlns:p14="http://schemas.microsoft.com/office/powerpoint/2010/main" val="1000372703"/>
              </p:ext>
            </p:extLst>
          </p:nvPr>
        </p:nvGraphicFramePr>
        <p:xfrm>
          <a:off x="7773973" y="2819567"/>
          <a:ext cx="3850701" cy="3726944"/>
        </p:xfrm>
        <a:graphic>
          <a:graphicData uri="http://schemas.openxmlformats.org/drawingml/2006/table">
            <a:tbl>
              <a:tblPr/>
              <a:tblGrid>
                <a:gridCol w="1027122">
                  <a:extLst>
                    <a:ext uri="{9D8B030D-6E8A-4147-A177-3AD203B41FA5}">
                      <a16:colId xmlns:a16="http://schemas.microsoft.com/office/drawing/2014/main" val="71799788"/>
                    </a:ext>
                  </a:extLst>
                </a:gridCol>
                <a:gridCol w="2823579">
                  <a:extLst>
                    <a:ext uri="{9D8B030D-6E8A-4147-A177-3AD203B41FA5}">
                      <a16:colId xmlns:a16="http://schemas.microsoft.com/office/drawing/2014/main" val="660385378"/>
                    </a:ext>
                  </a:extLst>
                </a:gridCol>
              </a:tblGrid>
              <a:tr h="465868">
                <a:tc>
                  <a:txBody>
                    <a:bodyPr/>
                    <a:lstStyle/>
                    <a:p>
                      <a:pPr algn="l" fontAlgn="ctr">
                        <a:buNone/>
                      </a:pPr>
                      <a:r>
                        <a:rPr lang="de-DE" sz="1600" b="0" i="0" u="none" strike="noStrike">
                          <a:effectLst/>
                          <a:latin typeface="Arial" panose="020B0604020202020204" pitchFamily="34" charset="0"/>
                        </a:rPr>
                        <a:t>Topic 0</a:t>
                      </a:r>
                      <a:endParaRPr lang="de-DE" sz="1600" b="0" i="0" u="none" strike="noStrike" dirty="0">
                        <a:effectLst/>
                        <a:latin typeface="Arial" panose="020B0604020202020204" pitchFamily="34" charset="0"/>
                      </a:endParaRPr>
                    </a:p>
                  </a:txBody>
                  <a:tcPr marL="105879" marR="105879" marT="52939" marB="52939" anchor="ctr">
                    <a:lnL>
                      <a:noFill/>
                    </a:lnL>
                    <a:lnR>
                      <a:noFill/>
                    </a:lnR>
                    <a:lnT>
                      <a:noFill/>
                    </a:lnT>
                    <a:lnB>
                      <a:noFill/>
                    </a:lnB>
                    <a:noFill/>
                  </a:tcPr>
                </a:tc>
                <a:tc>
                  <a:txBody>
                    <a:bodyPr/>
                    <a:lstStyle/>
                    <a:p>
                      <a:pPr algn="l" fontAlgn="ctr">
                        <a:buNone/>
                      </a:pPr>
                      <a:r>
                        <a:rPr lang="de-DE" sz="1600" b="0" i="0" u="none" strike="noStrike">
                          <a:effectLst/>
                          <a:latin typeface="Arial" panose="020B0604020202020204" pitchFamily="34" charset="0"/>
                        </a:rPr>
                        <a:t>Global Integration</a:t>
                      </a:r>
                      <a:endParaRPr lang="de-DE" sz="1600" b="0" i="0" u="none" strike="noStrike" dirty="0">
                        <a:effectLst/>
                        <a:latin typeface="Arial" panose="020B0604020202020204" pitchFamily="34" charset="0"/>
                      </a:endParaRPr>
                    </a:p>
                  </a:txBody>
                  <a:tcPr marL="105879" marR="105879" marT="52939" marB="52939" anchor="ctr">
                    <a:lnL>
                      <a:noFill/>
                    </a:lnL>
                    <a:lnR>
                      <a:noFill/>
                    </a:lnR>
                    <a:lnT>
                      <a:noFill/>
                    </a:lnT>
                    <a:lnB>
                      <a:noFill/>
                    </a:lnB>
                    <a:noFill/>
                  </a:tcPr>
                </a:tc>
                <a:extLst>
                  <a:ext uri="{0D108BD9-81ED-4DB2-BD59-A6C34878D82A}">
                    <a16:rowId xmlns:a16="http://schemas.microsoft.com/office/drawing/2014/main" val="2686228239"/>
                  </a:ext>
                </a:extLst>
              </a:tr>
              <a:tr h="465868">
                <a:tc>
                  <a:txBody>
                    <a:bodyPr/>
                    <a:lstStyle/>
                    <a:p>
                      <a:pPr algn="l" fontAlgn="ctr">
                        <a:buNone/>
                      </a:pPr>
                      <a:r>
                        <a:rPr lang="de-DE" sz="1600" b="0" i="0" u="none" strike="noStrike">
                          <a:effectLst/>
                          <a:latin typeface="Arial" panose="020B0604020202020204" pitchFamily="34" charset="0"/>
                        </a:rPr>
                        <a:t>Topic 1</a:t>
                      </a:r>
                    </a:p>
                  </a:txBody>
                  <a:tcPr marL="105879" marR="105879" marT="52939" marB="52939" anchor="ctr">
                    <a:lnL>
                      <a:noFill/>
                    </a:lnL>
                    <a:lnR>
                      <a:noFill/>
                    </a:lnR>
                    <a:lnT>
                      <a:noFill/>
                    </a:lnT>
                    <a:lnB>
                      <a:noFill/>
                    </a:lnB>
                    <a:noFill/>
                  </a:tcPr>
                </a:tc>
                <a:tc>
                  <a:txBody>
                    <a:bodyPr/>
                    <a:lstStyle/>
                    <a:p>
                      <a:pPr algn="l" fontAlgn="ctr">
                        <a:buNone/>
                      </a:pPr>
                      <a:r>
                        <a:rPr lang="de-DE" sz="1600" b="0" i="0" u="none" strike="noStrike" dirty="0">
                          <a:effectLst/>
                          <a:latin typeface="Arial" panose="020B0604020202020204" pitchFamily="34" charset="0"/>
                        </a:rPr>
                        <a:t>Inflation</a:t>
                      </a:r>
                    </a:p>
                  </a:txBody>
                  <a:tcPr marL="105879" marR="105879" marT="52939" marB="52939" anchor="ctr">
                    <a:lnL>
                      <a:noFill/>
                    </a:lnL>
                    <a:lnR>
                      <a:noFill/>
                    </a:lnR>
                    <a:lnT>
                      <a:noFill/>
                    </a:lnT>
                    <a:lnB>
                      <a:noFill/>
                    </a:lnB>
                    <a:noFill/>
                  </a:tcPr>
                </a:tc>
                <a:extLst>
                  <a:ext uri="{0D108BD9-81ED-4DB2-BD59-A6C34878D82A}">
                    <a16:rowId xmlns:a16="http://schemas.microsoft.com/office/drawing/2014/main" val="2861577403"/>
                  </a:ext>
                </a:extLst>
              </a:tr>
              <a:tr h="465868">
                <a:tc>
                  <a:txBody>
                    <a:bodyPr/>
                    <a:lstStyle/>
                    <a:p>
                      <a:pPr algn="l" fontAlgn="ctr">
                        <a:buNone/>
                      </a:pPr>
                      <a:r>
                        <a:rPr lang="de-DE" sz="1600" b="0" i="0" u="none" strike="noStrike">
                          <a:effectLst/>
                          <a:latin typeface="Arial" panose="020B0604020202020204" pitchFamily="34" charset="0"/>
                        </a:rPr>
                        <a:t>Topic 2</a:t>
                      </a:r>
                    </a:p>
                  </a:txBody>
                  <a:tcPr marL="105879" marR="105879" marT="52939" marB="52939" anchor="ctr">
                    <a:lnL>
                      <a:noFill/>
                    </a:lnL>
                    <a:lnR>
                      <a:noFill/>
                    </a:lnR>
                    <a:lnT>
                      <a:noFill/>
                    </a:lnT>
                    <a:lnB>
                      <a:noFill/>
                    </a:lnB>
                    <a:noFill/>
                  </a:tcPr>
                </a:tc>
                <a:tc>
                  <a:txBody>
                    <a:bodyPr/>
                    <a:lstStyle/>
                    <a:p>
                      <a:pPr algn="l" fontAlgn="ctr">
                        <a:buNone/>
                      </a:pPr>
                      <a:r>
                        <a:rPr lang="de-DE" sz="1600" b="0" i="0" u="none" strike="noStrike" dirty="0" err="1">
                          <a:effectLst/>
                          <a:latin typeface="Arial" panose="020B0604020202020204" pitchFamily="34" charset="0"/>
                        </a:rPr>
                        <a:t>Monetary</a:t>
                      </a:r>
                      <a:r>
                        <a:rPr lang="de-DE" sz="1600" b="0" i="0" u="none" strike="noStrike" dirty="0">
                          <a:effectLst/>
                          <a:latin typeface="Arial" panose="020B0604020202020204" pitchFamily="34" charset="0"/>
                        </a:rPr>
                        <a:t> </a:t>
                      </a:r>
                      <a:r>
                        <a:rPr lang="de-DE" sz="1600" b="0" i="0" u="none" strike="noStrike" dirty="0" err="1">
                          <a:effectLst/>
                          <a:latin typeface="Arial" panose="020B0604020202020204" pitchFamily="34" charset="0"/>
                        </a:rPr>
                        <a:t>opperations</a:t>
                      </a:r>
                      <a:r>
                        <a:rPr lang="de-DE" sz="1600" b="0" i="0" u="none" strike="noStrike" dirty="0">
                          <a:effectLst/>
                          <a:latin typeface="Arial" panose="020B0604020202020204" pitchFamily="34" charset="0"/>
                        </a:rPr>
                        <a:t>  </a:t>
                      </a:r>
                    </a:p>
                  </a:txBody>
                  <a:tcPr marL="105879" marR="105879" marT="52939" marB="52939" anchor="ctr">
                    <a:lnL>
                      <a:noFill/>
                    </a:lnL>
                    <a:lnR>
                      <a:noFill/>
                    </a:lnR>
                    <a:lnT>
                      <a:noFill/>
                    </a:lnT>
                    <a:lnB>
                      <a:noFill/>
                    </a:lnB>
                    <a:noFill/>
                  </a:tcPr>
                </a:tc>
                <a:extLst>
                  <a:ext uri="{0D108BD9-81ED-4DB2-BD59-A6C34878D82A}">
                    <a16:rowId xmlns:a16="http://schemas.microsoft.com/office/drawing/2014/main" val="1102099631"/>
                  </a:ext>
                </a:extLst>
              </a:tr>
              <a:tr h="465868">
                <a:tc>
                  <a:txBody>
                    <a:bodyPr/>
                    <a:lstStyle/>
                    <a:p>
                      <a:pPr algn="l" fontAlgn="ctr">
                        <a:buNone/>
                      </a:pPr>
                      <a:r>
                        <a:rPr lang="de-DE" sz="1600" b="0" i="0" u="none" strike="noStrike">
                          <a:effectLst/>
                          <a:latin typeface="Arial" panose="020B0604020202020204" pitchFamily="34" charset="0"/>
                        </a:rPr>
                        <a:t>Topic 3</a:t>
                      </a:r>
                      <a:endParaRPr lang="de-DE" sz="1600" b="0" i="0" u="none" strike="noStrike" dirty="0">
                        <a:effectLst/>
                        <a:latin typeface="Arial" panose="020B0604020202020204" pitchFamily="34" charset="0"/>
                      </a:endParaRPr>
                    </a:p>
                  </a:txBody>
                  <a:tcPr marL="105879" marR="105879" marT="52939" marB="52939" anchor="ctr">
                    <a:lnL>
                      <a:noFill/>
                    </a:lnL>
                    <a:lnR>
                      <a:noFill/>
                    </a:lnR>
                    <a:lnT>
                      <a:noFill/>
                    </a:lnT>
                    <a:lnB>
                      <a:noFill/>
                    </a:lnB>
                    <a:noFill/>
                  </a:tcPr>
                </a:tc>
                <a:tc>
                  <a:txBody>
                    <a:bodyPr/>
                    <a:lstStyle/>
                    <a:p>
                      <a:pPr algn="l" fontAlgn="ctr">
                        <a:buNone/>
                      </a:pPr>
                      <a:r>
                        <a:rPr lang="de-DE" sz="1600" b="0" i="0" u="none" strike="noStrike" dirty="0" err="1">
                          <a:effectLst/>
                          <a:latin typeface="Arial" panose="020B0604020202020204" pitchFamily="34" charset="0"/>
                        </a:rPr>
                        <a:t>Macroeconomics</a:t>
                      </a:r>
                      <a:r>
                        <a:rPr lang="de-DE" sz="1600" b="0" i="0" u="none" strike="noStrike" dirty="0">
                          <a:effectLst/>
                          <a:latin typeface="Arial" panose="020B0604020202020204" pitchFamily="34" charset="0"/>
                        </a:rPr>
                        <a:t> </a:t>
                      </a:r>
                    </a:p>
                  </a:txBody>
                  <a:tcPr marL="105879" marR="105879" marT="52939" marB="52939" anchor="ctr">
                    <a:lnL>
                      <a:noFill/>
                    </a:lnL>
                    <a:lnR>
                      <a:noFill/>
                    </a:lnR>
                    <a:lnT>
                      <a:noFill/>
                    </a:lnT>
                    <a:lnB>
                      <a:noFill/>
                    </a:lnB>
                    <a:noFill/>
                  </a:tcPr>
                </a:tc>
                <a:extLst>
                  <a:ext uri="{0D108BD9-81ED-4DB2-BD59-A6C34878D82A}">
                    <a16:rowId xmlns:a16="http://schemas.microsoft.com/office/drawing/2014/main" val="3773713729"/>
                  </a:ext>
                </a:extLst>
              </a:tr>
              <a:tr h="465868">
                <a:tc>
                  <a:txBody>
                    <a:bodyPr/>
                    <a:lstStyle/>
                    <a:p>
                      <a:pPr algn="l" fontAlgn="ctr">
                        <a:buNone/>
                      </a:pPr>
                      <a:r>
                        <a:rPr lang="de-DE" sz="1600" b="0" i="0" u="none" strike="noStrike">
                          <a:effectLst/>
                          <a:latin typeface="Arial" panose="020B0604020202020204" pitchFamily="34" charset="0"/>
                        </a:rPr>
                        <a:t>Topic 4</a:t>
                      </a:r>
                    </a:p>
                  </a:txBody>
                  <a:tcPr marL="105879" marR="105879" marT="52939" marB="52939" anchor="ctr">
                    <a:lnL>
                      <a:noFill/>
                    </a:lnL>
                    <a:lnR>
                      <a:noFill/>
                    </a:lnR>
                    <a:lnT>
                      <a:noFill/>
                    </a:lnT>
                    <a:lnB>
                      <a:noFill/>
                    </a:lnB>
                    <a:noFill/>
                  </a:tcPr>
                </a:tc>
                <a:tc>
                  <a:txBody>
                    <a:bodyPr/>
                    <a:lstStyle/>
                    <a:p>
                      <a:pPr algn="l" fontAlgn="ctr">
                        <a:buNone/>
                      </a:pPr>
                      <a:r>
                        <a:rPr lang="de-DE" sz="1600" b="0" i="0" u="none" strike="noStrike" dirty="0">
                          <a:effectLst/>
                          <a:latin typeface="Arial" panose="020B0604020202020204" pitchFamily="34" charset="0"/>
                        </a:rPr>
                        <a:t>Digital Euro</a:t>
                      </a:r>
                    </a:p>
                  </a:txBody>
                  <a:tcPr marL="105879" marR="105879" marT="52939" marB="52939" anchor="ctr">
                    <a:lnL>
                      <a:noFill/>
                    </a:lnL>
                    <a:lnR>
                      <a:noFill/>
                    </a:lnR>
                    <a:lnT>
                      <a:noFill/>
                    </a:lnT>
                    <a:lnB>
                      <a:noFill/>
                    </a:lnB>
                    <a:noFill/>
                  </a:tcPr>
                </a:tc>
                <a:extLst>
                  <a:ext uri="{0D108BD9-81ED-4DB2-BD59-A6C34878D82A}">
                    <a16:rowId xmlns:a16="http://schemas.microsoft.com/office/drawing/2014/main" val="1386441123"/>
                  </a:ext>
                </a:extLst>
              </a:tr>
              <a:tr h="465868">
                <a:tc>
                  <a:txBody>
                    <a:bodyPr/>
                    <a:lstStyle/>
                    <a:p>
                      <a:pPr algn="l" fontAlgn="ctr">
                        <a:buNone/>
                      </a:pPr>
                      <a:r>
                        <a:rPr lang="de-DE" sz="1600" b="0" i="0" u="none" strike="noStrike">
                          <a:effectLst/>
                          <a:latin typeface="Arial" panose="020B0604020202020204" pitchFamily="34" charset="0"/>
                        </a:rPr>
                        <a:t>Topic 5</a:t>
                      </a:r>
                    </a:p>
                  </a:txBody>
                  <a:tcPr marL="105879" marR="105879" marT="52939" marB="52939" anchor="ctr">
                    <a:lnL>
                      <a:noFill/>
                    </a:lnL>
                    <a:lnR>
                      <a:noFill/>
                    </a:lnR>
                    <a:lnT>
                      <a:noFill/>
                    </a:lnT>
                    <a:lnB>
                      <a:noFill/>
                    </a:lnB>
                    <a:noFill/>
                  </a:tcPr>
                </a:tc>
                <a:tc>
                  <a:txBody>
                    <a:bodyPr/>
                    <a:lstStyle/>
                    <a:p>
                      <a:pPr algn="l" fontAlgn="ctr">
                        <a:buNone/>
                      </a:pPr>
                      <a:r>
                        <a:rPr lang="de-DE" sz="1600" b="0" i="0" u="none" strike="noStrike" dirty="0">
                          <a:effectLst/>
                          <a:latin typeface="Arial" panose="020B0604020202020204" pitchFamily="34" charset="0"/>
                        </a:rPr>
                        <a:t>Financial Policy </a:t>
                      </a:r>
                    </a:p>
                  </a:txBody>
                  <a:tcPr marL="105879" marR="105879" marT="52939" marB="52939" anchor="ctr">
                    <a:lnL>
                      <a:noFill/>
                    </a:lnL>
                    <a:lnR>
                      <a:noFill/>
                    </a:lnR>
                    <a:lnT>
                      <a:noFill/>
                    </a:lnT>
                    <a:lnB>
                      <a:noFill/>
                    </a:lnB>
                    <a:noFill/>
                  </a:tcPr>
                </a:tc>
                <a:extLst>
                  <a:ext uri="{0D108BD9-81ED-4DB2-BD59-A6C34878D82A}">
                    <a16:rowId xmlns:a16="http://schemas.microsoft.com/office/drawing/2014/main" val="614827639"/>
                  </a:ext>
                </a:extLst>
              </a:tr>
              <a:tr h="465868">
                <a:tc>
                  <a:txBody>
                    <a:bodyPr/>
                    <a:lstStyle/>
                    <a:p>
                      <a:pPr algn="l" fontAlgn="ctr">
                        <a:buNone/>
                      </a:pPr>
                      <a:r>
                        <a:rPr lang="de-DE" sz="1600" b="0" i="0" u="none" strike="noStrike">
                          <a:effectLst/>
                          <a:latin typeface="Arial" panose="020B0604020202020204" pitchFamily="34" charset="0"/>
                        </a:rPr>
                        <a:t>Topic 6</a:t>
                      </a:r>
                    </a:p>
                  </a:txBody>
                  <a:tcPr marL="105879" marR="105879" marT="52939" marB="52939" anchor="ctr">
                    <a:lnL>
                      <a:noFill/>
                    </a:lnL>
                    <a:lnR>
                      <a:noFill/>
                    </a:lnR>
                    <a:lnT>
                      <a:noFill/>
                    </a:lnT>
                    <a:lnB>
                      <a:noFill/>
                    </a:lnB>
                    <a:noFill/>
                  </a:tcPr>
                </a:tc>
                <a:tc>
                  <a:txBody>
                    <a:bodyPr/>
                    <a:lstStyle/>
                    <a:p>
                      <a:pPr algn="l" fontAlgn="ctr">
                        <a:buNone/>
                      </a:pPr>
                      <a:r>
                        <a:rPr lang="de-DE" sz="1600" b="0" i="0" u="none" strike="noStrike" dirty="0">
                          <a:effectLst/>
                          <a:latin typeface="Arial" panose="020B0604020202020204" pitchFamily="34" charset="0"/>
                        </a:rPr>
                        <a:t>EMU </a:t>
                      </a:r>
                      <a:r>
                        <a:rPr lang="de-DE" sz="1600" b="0" i="0" u="none" strike="noStrike" dirty="0" err="1">
                          <a:effectLst/>
                          <a:latin typeface="Arial" panose="020B0604020202020204" pitchFamily="34" charset="0"/>
                        </a:rPr>
                        <a:t>Governance</a:t>
                      </a:r>
                      <a:endParaRPr lang="de-DE" sz="1600" b="0" i="0" u="none" strike="noStrike" dirty="0">
                        <a:effectLst/>
                        <a:latin typeface="Arial" panose="020B0604020202020204" pitchFamily="34" charset="0"/>
                      </a:endParaRPr>
                    </a:p>
                  </a:txBody>
                  <a:tcPr marL="105879" marR="105879" marT="52939" marB="52939" anchor="ctr">
                    <a:lnL>
                      <a:noFill/>
                    </a:lnL>
                    <a:lnR>
                      <a:noFill/>
                    </a:lnR>
                    <a:lnT>
                      <a:noFill/>
                    </a:lnT>
                    <a:lnB>
                      <a:noFill/>
                    </a:lnB>
                    <a:noFill/>
                  </a:tcPr>
                </a:tc>
                <a:extLst>
                  <a:ext uri="{0D108BD9-81ED-4DB2-BD59-A6C34878D82A}">
                    <a16:rowId xmlns:a16="http://schemas.microsoft.com/office/drawing/2014/main" val="4050615548"/>
                  </a:ext>
                </a:extLst>
              </a:tr>
              <a:tr h="465868">
                <a:tc>
                  <a:txBody>
                    <a:bodyPr/>
                    <a:lstStyle/>
                    <a:p>
                      <a:pPr algn="l" fontAlgn="ctr">
                        <a:buNone/>
                      </a:pPr>
                      <a:r>
                        <a:rPr lang="de-DE" sz="1600" b="0" i="0" u="none" strike="noStrike">
                          <a:effectLst/>
                          <a:latin typeface="Arial" panose="020B0604020202020204" pitchFamily="34" charset="0"/>
                        </a:rPr>
                        <a:t>Topic 7</a:t>
                      </a:r>
                    </a:p>
                  </a:txBody>
                  <a:tcPr marL="105879" marR="105879" marT="52939" marB="52939" anchor="ctr">
                    <a:lnL>
                      <a:noFill/>
                    </a:lnL>
                    <a:lnR>
                      <a:noFill/>
                    </a:lnR>
                    <a:lnT>
                      <a:noFill/>
                    </a:lnT>
                    <a:lnB>
                      <a:noFill/>
                    </a:lnB>
                    <a:noFill/>
                  </a:tcPr>
                </a:tc>
                <a:tc>
                  <a:txBody>
                    <a:bodyPr/>
                    <a:lstStyle/>
                    <a:p>
                      <a:pPr algn="l" fontAlgn="ctr">
                        <a:buNone/>
                      </a:pPr>
                      <a:r>
                        <a:rPr lang="de-DE" sz="1600" b="0" i="0" u="none" strike="noStrike" dirty="0">
                          <a:effectLst/>
                          <a:latin typeface="Arial" panose="020B0604020202020204" pitchFamily="34" charset="0"/>
                        </a:rPr>
                        <a:t>Banking Supervision</a:t>
                      </a:r>
                    </a:p>
                  </a:txBody>
                  <a:tcPr marL="105879" marR="105879" marT="52939" marB="52939" anchor="ctr">
                    <a:lnL>
                      <a:noFill/>
                    </a:lnL>
                    <a:lnR>
                      <a:noFill/>
                    </a:lnR>
                    <a:lnT>
                      <a:noFill/>
                    </a:lnT>
                    <a:lnB>
                      <a:noFill/>
                    </a:lnB>
                    <a:noFill/>
                  </a:tcPr>
                </a:tc>
                <a:extLst>
                  <a:ext uri="{0D108BD9-81ED-4DB2-BD59-A6C34878D82A}">
                    <a16:rowId xmlns:a16="http://schemas.microsoft.com/office/drawing/2014/main" val="3778665195"/>
                  </a:ext>
                </a:extLst>
              </a:tr>
            </a:tbl>
          </a:graphicData>
        </a:graphic>
      </p:graphicFrame>
    </p:spTree>
    <p:extLst>
      <p:ext uri="{BB962C8B-B14F-4D97-AF65-F5344CB8AC3E}">
        <p14:creationId xmlns:p14="http://schemas.microsoft.com/office/powerpoint/2010/main" val="24042356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37D2B67-8E09-5335-DDA8-76B44E42E356}"/>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385E1BDC-A9B0-4A87-82E3-F3187F69A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0990C621-3B8B-4820-8328-D47EF7CE8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6163257-0F55-0FC6-874C-116C1DBAB5C5}"/>
              </a:ext>
            </a:extLst>
          </p:cNvPr>
          <p:cNvSpPr>
            <a:spLocks noGrp="1"/>
          </p:cNvSpPr>
          <p:nvPr>
            <p:ph type="title"/>
          </p:nvPr>
        </p:nvSpPr>
        <p:spPr>
          <a:xfrm>
            <a:off x="1051560" y="586822"/>
            <a:ext cx="3657600" cy="1645920"/>
          </a:xfrm>
        </p:spPr>
        <p:txBody>
          <a:bodyPr>
            <a:normAutofit/>
          </a:bodyPr>
          <a:lstStyle/>
          <a:p>
            <a:r>
              <a:rPr lang="de-DE" sz="3200" dirty="0"/>
              <a:t>Central Bankers Topics </a:t>
            </a:r>
          </a:p>
        </p:txBody>
      </p:sp>
      <p:sp>
        <p:nvSpPr>
          <p:cNvPr id="19" name="Rectangle 18">
            <a:extLst>
              <a:ext uri="{FF2B5EF4-FFF2-40B4-BE49-F238E27FC236}">
                <a16:creationId xmlns:a16="http://schemas.microsoft.com/office/drawing/2014/main" id="{C1A2385B-1D2A-4E17-84FA-6CB7F0AAE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21" name="Rectangle 20">
            <a:extLst>
              <a:ext uri="{FF2B5EF4-FFF2-40B4-BE49-F238E27FC236}">
                <a16:creationId xmlns:a16="http://schemas.microsoft.com/office/drawing/2014/main" id="{5E791F2F-79DB-4CC0-9FA1-001E3E91E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Content Placeholder 9">
            <a:extLst>
              <a:ext uri="{FF2B5EF4-FFF2-40B4-BE49-F238E27FC236}">
                <a16:creationId xmlns:a16="http://schemas.microsoft.com/office/drawing/2014/main" id="{A621B840-0CFE-14AD-BB41-3D783608115C}"/>
              </a:ext>
            </a:extLst>
          </p:cNvPr>
          <p:cNvSpPr>
            <a:spLocks noGrp="1"/>
          </p:cNvSpPr>
          <p:nvPr>
            <p:ph idx="1"/>
          </p:nvPr>
        </p:nvSpPr>
        <p:spPr>
          <a:xfrm>
            <a:off x="5250106" y="586822"/>
            <a:ext cx="6387478" cy="1645920"/>
          </a:xfrm>
        </p:spPr>
        <p:txBody>
          <a:bodyPr anchor="ctr">
            <a:normAutofit fontScale="85000" lnSpcReduction="20000"/>
          </a:bodyPr>
          <a:lstStyle/>
          <a:p>
            <a:pPr marL="0" indent="0">
              <a:buNone/>
            </a:pPr>
            <a:r>
              <a:rPr lang="en-US" sz="1600" dirty="0"/>
              <a:t>Central bank communication clearly adapts to changing macroeconomic conditions and major economic shocks. The evolution of topic weights shows that the focus of speeches shifts substantially over time, reflecting the challenges faced by policymakers. In particular, the dynamics appear to be </a:t>
            </a:r>
            <a:r>
              <a:rPr lang="en-US" sz="1600" b="1" dirty="0"/>
              <a:t>largely driven by monetary and fiscal policy topics</a:t>
            </a:r>
            <a:r>
              <a:rPr lang="en-US" sz="1600" dirty="0"/>
              <a:t>, which dominate the communication agenda during periods of economic stress.</a:t>
            </a:r>
          </a:p>
          <a:p>
            <a:pPr marL="0" indent="0">
              <a:buNone/>
            </a:pPr>
            <a:r>
              <a:rPr lang="en-US" sz="1600" dirty="0"/>
              <a:t>Overall, the results suggest that ECB communication is </a:t>
            </a:r>
            <a:r>
              <a:rPr lang="en-US" sz="1600" b="1" dirty="0"/>
              <a:t>highly responsive to the economic environment</a:t>
            </a:r>
            <a:r>
              <a:rPr lang="en-US" sz="1600" dirty="0"/>
              <a:t>, with policymakers adjusting the thematic emphasis of their speeches to address the most pressing economic risks and policy challenges</a:t>
            </a:r>
          </a:p>
          <a:p>
            <a:pPr marL="0" indent="0">
              <a:buNone/>
            </a:pPr>
            <a:endParaRPr lang="en-US" sz="1500" dirty="0"/>
          </a:p>
        </p:txBody>
      </p:sp>
      <p:pic>
        <p:nvPicPr>
          <p:cNvPr id="5" name="Content Placeholder 4">
            <a:extLst>
              <a:ext uri="{FF2B5EF4-FFF2-40B4-BE49-F238E27FC236}">
                <a16:creationId xmlns:a16="http://schemas.microsoft.com/office/drawing/2014/main" id="{BEEAA93F-C5D4-2AA6-2A11-D5E1FFC54EB4}"/>
              </a:ext>
            </a:extLst>
          </p:cNvPr>
          <p:cNvPicPr>
            <a:picLocks noChangeAspect="1"/>
          </p:cNvPicPr>
          <p:nvPr/>
        </p:nvPicPr>
        <p:blipFill>
          <a:blip r:embed="rId2"/>
          <a:stretch>
            <a:fillRect/>
          </a:stretch>
        </p:blipFill>
        <p:spPr>
          <a:xfrm>
            <a:off x="554416" y="2870218"/>
            <a:ext cx="7776990" cy="3821220"/>
          </a:xfrm>
          <a:prstGeom prst="rect">
            <a:avLst/>
          </a:prstGeom>
        </p:spPr>
      </p:pic>
      <p:sp>
        <p:nvSpPr>
          <p:cNvPr id="6" name="Rectangle 5">
            <a:extLst>
              <a:ext uri="{FF2B5EF4-FFF2-40B4-BE49-F238E27FC236}">
                <a16:creationId xmlns:a16="http://schemas.microsoft.com/office/drawing/2014/main" id="{5FC94EA5-A96B-38E7-F04E-98C5D3296AA4}"/>
              </a:ext>
            </a:extLst>
          </p:cNvPr>
          <p:cNvSpPr/>
          <p:nvPr/>
        </p:nvSpPr>
        <p:spPr>
          <a:xfrm>
            <a:off x="2537750" y="3102515"/>
            <a:ext cx="1127501" cy="3107411"/>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4" name="Rectangle 3">
            <a:extLst>
              <a:ext uri="{FF2B5EF4-FFF2-40B4-BE49-F238E27FC236}">
                <a16:creationId xmlns:a16="http://schemas.microsoft.com/office/drawing/2014/main" id="{019FCC2C-7719-EF3E-E76A-63CAC4C23C33}"/>
              </a:ext>
            </a:extLst>
          </p:cNvPr>
          <p:cNvSpPr/>
          <p:nvPr/>
        </p:nvSpPr>
        <p:spPr>
          <a:xfrm>
            <a:off x="5532249" y="3102514"/>
            <a:ext cx="1127501" cy="3107411"/>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a:p>
        </p:txBody>
      </p:sp>
      <p:sp>
        <p:nvSpPr>
          <p:cNvPr id="9" name="TextBox 8">
            <a:extLst>
              <a:ext uri="{FF2B5EF4-FFF2-40B4-BE49-F238E27FC236}">
                <a16:creationId xmlns:a16="http://schemas.microsoft.com/office/drawing/2014/main" id="{17635B5A-A1E9-AC53-BD34-DA98A7C09B92}"/>
              </a:ext>
            </a:extLst>
          </p:cNvPr>
          <p:cNvSpPr txBox="1"/>
          <p:nvPr/>
        </p:nvSpPr>
        <p:spPr>
          <a:xfrm>
            <a:off x="8643084" y="3102514"/>
            <a:ext cx="3282862" cy="2862322"/>
          </a:xfrm>
          <a:prstGeom prst="rect">
            <a:avLst/>
          </a:prstGeom>
          <a:noFill/>
        </p:spPr>
        <p:txBody>
          <a:bodyPr wrap="square">
            <a:spAutoFit/>
          </a:bodyPr>
          <a:lstStyle/>
          <a:p>
            <a:r>
              <a:rPr lang="en-US" b="1" dirty="0"/>
              <a:t>Period I</a:t>
            </a:r>
            <a:br>
              <a:rPr lang="en-US" dirty="0"/>
            </a:br>
            <a:r>
              <a:rPr lang="en-US" dirty="0"/>
              <a:t>Aftermath of the Great Financial Crisis and the onset of the European sovereign debt crisis (2012).</a:t>
            </a:r>
          </a:p>
          <a:p>
            <a:endParaRPr lang="en-US" dirty="0"/>
          </a:p>
          <a:p>
            <a:r>
              <a:rPr lang="en-US" b="1" dirty="0"/>
              <a:t>Period II</a:t>
            </a:r>
            <a:br>
              <a:rPr lang="en-US" dirty="0"/>
            </a:br>
            <a:r>
              <a:rPr lang="en-US" dirty="0"/>
              <a:t>COVID-19 (2020) and the energy price shock (2022) , leading to elevated inflation in Europe.</a:t>
            </a:r>
          </a:p>
        </p:txBody>
      </p:sp>
    </p:spTree>
    <p:extLst>
      <p:ext uri="{BB962C8B-B14F-4D97-AF65-F5344CB8AC3E}">
        <p14:creationId xmlns:p14="http://schemas.microsoft.com/office/powerpoint/2010/main" val="7295381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Freeform: Shape 2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3" name="Freeform: Shape 2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BA3AEE2-BBE2-59EA-2854-C0F66BE8713A}"/>
              </a:ext>
            </a:extLst>
          </p:cNvPr>
          <p:cNvSpPr>
            <a:spLocks noGrp="1"/>
          </p:cNvSpPr>
          <p:nvPr>
            <p:ph type="title"/>
          </p:nvPr>
        </p:nvSpPr>
        <p:spPr>
          <a:xfrm>
            <a:off x="621792" y="1161288"/>
            <a:ext cx="3602736" cy="4526280"/>
          </a:xfrm>
        </p:spPr>
        <p:txBody>
          <a:bodyPr>
            <a:normAutofit/>
          </a:bodyPr>
          <a:lstStyle/>
          <a:p>
            <a:r>
              <a:rPr lang="de-DE" sz="4000"/>
              <a:t>Next steps </a:t>
            </a:r>
          </a:p>
        </p:txBody>
      </p:sp>
      <p:sp>
        <p:nvSpPr>
          <p:cNvPr id="25" name="Rectangle 2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15" name="Rectangle 1">
            <a:extLst>
              <a:ext uri="{FF2B5EF4-FFF2-40B4-BE49-F238E27FC236}">
                <a16:creationId xmlns:a16="http://schemas.microsoft.com/office/drawing/2014/main" id="{3ADF8F01-753D-C934-3567-79321EB93935}"/>
              </a:ext>
            </a:extLst>
          </p:cNvPr>
          <p:cNvGraphicFramePr>
            <a:graphicFrameLocks noGrp="1"/>
          </p:cNvGraphicFramePr>
          <p:nvPr>
            <p:ph idx="1"/>
            <p:extLst>
              <p:ext uri="{D42A27DB-BD31-4B8C-83A1-F6EECF244321}">
                <p14:modId xmlns:p14="http://schemas.microsoft.com/office/powerpoint/2010/main" val="3767049561"/>
              </p:ext>
            </p:extLst>
          </p:nvPr>
        </p:nvGraphicFramePr>
        <p:xfrm>
          <a:off x="5303520" y="676656"/>
          <a:ext cx="6364224" cy="58558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823852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761</Words>
  <Application>Microsoft Office PowerPoint</Application>
  <PresentationFormat>Widescreen</PresentationFormat>
  <Paragraphs>62</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What matters for central bankers and what matters for the financial market? </vt:lpstr>
      <vt:lpstr>What matters for central bankers and what matters for the financial market? </vt:lpstr>
      <vt:lpstr>Observations and Average GDP Growth</vt:lpstr>
      <vt:lpstr>Average Spread in the Data</vt:lpstr>
      <vt:lpstr>Debt, GDP, and Spread</vt:lpstr>
      <vt:lpstr>First results I </vt:lpstr>
      <vt:lpstr>First results II</vt:lpstr>
      <vt:lpstr>Central Bankers Topics </vt:lpstr>
      <vt:lpstr>Central Bankers Topics </vt:lpstr>
      <vt:lpstr>Next steps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EDU_ICWQ_3086@sulid.hu</dc:creator>
  <cp:lastModifiedBy>Robin Sing</cp:lastModifiedBy>
  <cp:revision>6</cp:revision>
  <dcterms:created xsi:type="dcterms:W3CDTF">2026-03-06T19:44:27Z</dcterms:created>
  <dcterms:modified xsi:type="dcterms:W3CDTF">2026-03-08T03:28:25Z</dcterms:modified>
</cp:coreProperties>
</file>